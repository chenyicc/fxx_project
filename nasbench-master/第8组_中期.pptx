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2.svg" ContentType="image/svg+xml"/>
  <Override PartName="/ppt/media/image17.svg" ContentType="image/svg+xml"/>
  <Override PartName="/ppt/media/image19.svg" ContentType="image/svg+xml"/>
  <Override PartName="/ppt/media/image34.svg" ContentType="image/svg+xml"/>
  <Override PartName="/ppt/media/image8.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3"/>
    <p:sldMasterId id="2147483662" r:id="rId4"/>
  </p:sldMasterIdLst>
  <p:notesMasterIdLst>
    <p:notesMasterId r:id="rId19"/>
  </p:notesMasterIdLst>
  <p:sldIdLst>
    <p:sldId id="268" r:id="rId5"/>
    <p:sldId id="345" r:id="rId6"/>
    <p:sldId id="346" r:id="rId7"/>
    <p:sldId id="347" r:id="rId8"/>
    <p:sldId id="348" r:id="rId9"/>
    <p:sldId id="339" r:id="rId10"/>
    <p:sldId id="350" r:id="rId11"/>
    <p:sldId id="342" r:id="rId12"/>
    <p:sldId id="340" r:id="rId13"/>
    <p:sldId id="343" r:id="rId14"/>
    <p:sldId id="344" r:id="rId15"/>
    <p:sldId id="341" r:id="rId16"/>
    <p:sldId id="349" r:id="rId17"/>
    <p:sldId id="287"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0" userDrawn="1">
          <p15:clr>
            <a:srgbClr val="A4A3A4"/>
          </p15:clr>
        </p15:guide>
        <p15:guide id="2" pos="3839" userDrawn="1">
          <p15:clr>
            <a:srgbClr val="A4A3A4"/>
          </p15:clr>
        </p15:guide>
        <p15:guide id="3" orient="horz" pos="352" userDrawn="1">
          <p15:clr>
            <a:srgbClr val="A4A3A4"/>
          </p15:clr>
        </p15:guide>
        <p15:guide id="4" orient="horz" pos="3974" userDrawn="1">
          <p15:clr>
            <a:srgbClr val="A4A3A4"/>
          </p15:clr>
        </p15:guide>
        <p15:guide id="5" pos="325" userDrawn="1">
          <p15:clr>
            <a:srgbClr val="A4A3A4"/>
          </p15:clr>
        </p15:guide>
        <p15:guide id="6" pos="73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F43"/>
    <a:srgbClr val="ED6C00"/>
    <a:srgbClr val="06383C"/>
    <a:srgbClr val="2BB7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886" autoAdjust="0"/>
    <p:restoredTop sz="94660"/>
  </p:normalViewPr>
  <p:slideViewPr>
    <p:cSldViewPr snapToGrid="0" showGuides="1">
      <p:cViewPr varScale="1">
        <p:scale>
          <a:sx n="57" d="100"/>
          <a:sy n="57" d="100"/>
        </p:scale>
        <p:origin x="273" y="41"/>
      </p:cViewPr>
      <p:guideLst>
        <p:guide orient="horz" pos="2140"/>
        <p:guide pos="3839"/>
        <p:guide orient="horz" pos="352"/>
        <p:guide orient="horz" pos="3974"/>
        <p:guide pos="325"/>
        <p:guide pos="735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notesMaster" Target="notesMasters/notesMaster1.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空白（进阶设计）">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Footer Placeholder 7"/>
          <p:cNvSpPr>
            <a:spLocks noGrp="1"/>
          </p:cNvSpPr>
          <p:nvPr>
            <p:ph type="ftr" sz="quarter" idx="3"/>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a:xfrm>
            <a:off x="609600" y="6356351"/>
            <a:ext cx="2844800" cy="365125"/>
          </a:xfrm>
          <a:prstGeom prst="rect">
            <a:avLst/>
          </a:prstGeom>
        </p:spPr>
        <p:txBody>
          <a:bodyPr/>
          <a:lstStyle/>
          <a:p>
            <a:endParaRPr lang="en-US"/>
          </a:p>
        </p:txBody>
      </p:sp>
      <p:sp>
        <p:nvSpPr>
          <p:cNvPr id="8" name="Footer Placeholder 7"/>
          <p:cNvSpPr>
            <a:spLocks noGrp="1"/>
          </p:cNvSpPr>
          <p:nvPr>
            <p:ph type="ftr" sz="quarter" idx="11"/>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1"/>
            <a:ext cx="2844800" cy="365125"/>
          </a:xfrm>
          <a:prstGeom prst="rect">
            <a:avLst/>
          </a:prstGeom>
        </p:spPr>
        <p:txBody>
          <a:bodyPr/>
          <a:lstStyle/>
          <a:p>
            <a:endParaRPr lang="en-US"/>
          </a:p>
        </p:txBody>
      </p:sp>
      <p:sp>
        <p:nvSpPr>
          <p:cNvPr id="3" name="Footer Placeholder 2"/>
          <p:cNvSpPr>
            <a:spLocks noGrp="1"/>
          </p:cNvSpPr>
          <p:nvPr>
            <p:ph type="ftr" sz="quarter" idx="11"/>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进阶设计）">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0.xml"/><Relationship Id="rId8" Type="http://schemas.openxmlformats.org/officeDocument/2006/relationships/slideLayout" Target="../slideLayouts/slideLayout9.xml"/><Relationship Id="rId7" Type="http://schemas.openxmlformats.org/officeDocument/2006/relationships/slideLayout" Target="../slideLayouts/slideLayout8.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 Id="rId3" Type="http://schemas.openxmlformats.org/officeDocument/2006/relationships/slideLayout" Target="../slideLayouts/slideLayout4.xml"/><Relationship Id="rId2" Type="http://schemas.openxmlformats.org/officeDocument/2006/relationships/slideLayout" Target="../slideLayouts/slideLayout3.xml"/><Relationship Id="rId18" Type="http://schemas.openxmlformats.org/officeDocument/2006/relationships/theme" Target="../theme/theme2.xml"/><Relationship Id="rId17" Type="http://schemas.openxmlformats.org/officeDocument/2006/relationships/image" Target="../media/image6.jpeg"/><Relationship Id="rId16" Type="http://schemas.openxmlformats.org/officeDocument/2006/relationships/image" Target="../media/image5.png"/><Relationship Id="rId15" Type="http://schemas.openxmlformats.org/officeDocument/2006/relationships/image" Target="../media/image4.png"/><Relationship Id="rId14" Type="http://schemas.openxmlformats.org/officeDocument/2006/relationships/image" Target="../media/image3.png"/><Relationship Id="rId13" Type="http://schemas.microsoft.com/office/2007/relationships/hdphoto" Target="../media/image2.wdp"/><Relationship Id="rId12" Type="http://schemas.openxmlformats.org/officeDocument/2006/relationships/image" Target="../media/image1.png"/><Relationship Id="rId11" Type="http://schemas.openxmlformats.org/officeDocument/2006/relationships/slideLayout" Target="../slideLayouts/slideLayout12.xml"/><Relationship Id="rId10" Type="http://schemas.openxmlformats.org/officeDocument/2006/relationships/slideLayout" Target="../slideLayouts/slideLayout11.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0" name="Group 19"/>
          <p:cNvGrpSpPr/>
          <p:nvPr userDrawn="1"/>
        </p:nvGrpSpPr>
        <p:grpSpPr>
          <a:xfrm>
            <a:off x="0" y="0"/>
            <a:ext cx="12192000" cy="6858000"/>
            <a:chOff x="0" y="0"/>
            <a:chExt cx="9144000" cy="6858000"/>
          </a:xfrm>
        </p:grpSpPr>
        <p:pic>
          <p:nvPicPr>
            <p:cNvPr id="7" name="Picture 6" descr="location inner.jpg"/>
            <p:cNvPicPr>
              <a:picLocks noChangeAspect="1"/>
            </p:cNvPicPr>
            <p:nvPr userDrawn="1"/>
          </p:nvPicPr>
          <p:blipFill>
            <a:blip r:embed="rId12">
              <a:extLst>
                <a:ext uri="{BEBA8EAE-BF5A-486C-A8C5-ECC9F3942E4B}">
                  <a14:imgProps xmlns:a14="http://schemas.microsoft.com/office/drawing/2010/main">
                    <a14:imgLayer r:embed="rId13">
                      <a14:imgEffect>
                        <a14:backgroundRemoval t="400" b="90000" l="1900" r="99300">
                          <a14:foregroundMark x1="99333" y1="622" x2="99333" y2="622"/>
                          <a14:foregroundMark x1="5100" y1="756" x2="5100" y2="756"/>
                          <a14:foregroundMark x1="1933" y1="3200" x2="1933" y2="3200"/>
                          <a14:foregroundMark x1="10300" y1="5511" x2="10300" y2="5511"/>
                          <a14:foregroundMark x1="22200" y1="400" x2="22200" y2="400"/>
                          <a14:foregroundMark x1="22200" y1="1022" x2="22200" y2="1022"/>
                        </a14:backgroundRemoval>
                      </a14:imgEffect>
                    </a14:imgLayer>
                  </a14:imgProps>
                </a:ext>
              </a:extLst>
            </a:blip>
            <a:stretch>
              <a:fillRect/>
            </a:stretch>
          </p:blipFill>
          <p:spPr>
            <a:xfrm>
              <a:off x="0" y="0"/>
              <a:ext cx="9144000" cy="6858000"/>
            </a:xfrm>
            <a:prstGeom prst="rect">
              <a:avLst/>
            </a:prstGeom>
          </p:spPr>
        </p:pic>
        <p:pic>
          <p:nvPicPr>
            <p:cNvPr id="14" name="Picture 13" descr="location inner.jpg"/>
            <p:cNvPicPr>
              <a:picLocks noChangeAspect="1"/>
            </p:cNvPicPr>
            <p:nvPr userDrawn="1"/>
          </p:nvPicPr>
          <p:blipFill rotWithShape="1">
            <a:blip r:embed="rId12">
              <a:extLst>
                <a:ext uri="{BEBA8EAE-BF5A-486C-A8C5-ECC9F3942E4B}">
                  <a14:imgProps xmlns:a14="http://schemas.microsoft.com/office/drawing/2010/main">
                    <a14:imgLayer r:embed="rId13">
                      <a14:imgEffect>
                        <a14:backgroundRemoval t="400" b="90000" l="1900" r="99300">
                          <a14:foregroundMark x1="99333" y1="622" x2="99333" y2="622"/>
                          <a14:foregroundMark x1="5100" y1="756" x2="5100" y2="756"/>
                          <a14:foregroundMark x1="1933" y1="3200" x2="1933" y2="3200"/>
                          <a14:foregroundMark x1="10300" y1="5511" x2="10300" y2="5511"/>
                          <a14:foregroundMark x1="22200" y1="400" x2="22200" y2="400"/>
                          <a14:foregroundMark x1="22200" y1="1022" x2="22200" y2="1022"/>
                        </a14:backgroundRemoval>
                      </a14:imgEffect>
                    </a14:imgLayer>
                  </a14:imgProps>
                </a:ext>
              </a:extLst>
            </a:blip>
            <a:srcRect r="63439" b="92264"/>
            <a:stretch>
              <a:fillRect/>
            </a:stretch>
          </p:blipFill>
          <p:spPr>
            <a:xfrm>
              <a:off x="5800846" y="415"/>
              <a:ext cx="3343154" cy="530503"/>
            </a:xfrm>
            <a:prstGeom prst="rect">
              <a:avLst/>
            </a:prstGeom>
          </p:spPr>
        </p:pic>
      </p:grpSp>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endParaRPr lang="en-US" dirty="0"/>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pic>
        <p:nvPicPr>
          <p:cNvPr id="5" name="Picture 4"/>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 y="-10304"/>
            <a:ext cx="1814284" cy="457200"/>
          </a:xfrm>
          <a:prstGeom prst="rect">
            <a:avLst/>
          </a:prstGeom>
        </p:spPr>
      </p:pic>
      <p:pic>
        <p:nvPicPr>
          <p:cNvPr id="6" name="Picture 5"/>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695751" y="103996"/>
            <a:ext cx="529047" cy="274320"/>
          </a:xfrm>
          <a:prstGeom prst="rect">
            <a:avLst/>
          </a:prstGeom>
        </p:spPr>
      </p:pic>
      <p:sp>
        <p:nvSpPr>
          <p:cNvPr id="19" name="TextBox 18"/>
          <p:cNvSpPr txBox="1"/>
          <p:nvPr userDrawn="1"/>
        </p:nvSpPr>
        <p:spPr>
          <a:xfrm>
            <a:off x="11561851" y="6401356"/>
            <a:ext cx="396262" cy="307777"/>
          </a:xfrm>
          <a:prstGeom prst="rect">
            <a:avLst/>
          </a:prstGeom>
          <a:noFill/>
        </p:spPr>
        <p:txBody>
          <a:bodyPr wrap="none" rtlCol="0">
            <a:spAutoFit/>
          </a:bodyPr>
          <a:lstStyle/>
          <a:p>
            <a:fld id="{3CB99FC1-9AB2-4FF8-B6FF-6354316A80D6}" type="slidenum">
              <a:rPr lang="en-US" sz="1400" smtClean="0">
                <a:solidFill>
                  <a:schemeClr val="tx1"/>
                </a:solidFill>
              </a:rPr>
            </a:fld>
            <a:endParaRPr lang="en-US" sz="1400" dirty="0">
              <a:solidFill>
                <a:schemeClr val="tx1"/>
              </a:solidFill>
            </a:endParaRPr>
          </a:p>
        </p:txBody>
      </p:sp>
      <p:sp>
        <p:nvSpPr>
          <p:cNvPr id="21"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pic>
        <p:nvPicPr>
          <p:cNvPr id="11" name="Picture 2"/>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1347531" y="1"/>
            <a:ext cx="844468" cy="609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TextBox 12"/>
          <p:cNvSpPr txBox="1"/>
          <p:nvPr userDrawn="1"/>
        </p:nvSpPr>
        <p:spPr>
          <a:xfrm>
            <a:off x="9662491" y="-4464"/>
            <a:ext cx="665567" cy="461665"/>
          </a:xfrm>
          <a:prstGeom prst="rect">
            <a:avLst/>
          </a:prstGeom>
          <a:noFill/>
        </p:spPr>
        <p:txBody>
          <a:bodyPr wrap="none" rtlCol="0">
            <a:spAutoFit/>
          </a:bodyPr>
          <a:lstStyle/>
          <a:p>
            <a:r>
              <a:rPr lang="en-US" sz="2400" dirty="0">
                <a:solidFill>
                  <a:schemeClr val="bg1"/>
                </a:solidFill>
                <a:latin typeface="+mj-lt"/>
              </a:rPr>
              <a:t>IMS</a:t>
            </a:r>
            <a:endParaRPr lang="en-US" sz="2400" dirty="0">
              <a:solidFill>
                <a:schemeClr val="bg1"/>
              </a:solidFill>
              <a:latin typeface="+mj-lt"/>
            </a:endParaRPr>
          </a:p>
        </p:txBody>
      </p:sp>
      <p:pic>
        <p:nvPicPr>
          <p:cNvPr id="15" name="Picture 14" descr="location inner.jpg"/>
          <p:cNvPicPr>
            <a:picLocks noChangeAspect="1"/>
          </p:cNvPicPr>
          <p:nvPr userDrawn="1"/>
        </p:nvPicPr>
        <p:blipFill rotWithShape="1">
          <a:blip r:embed="rId17"/>
          <a:srcRect l="75099" t="89739" r="1372" b="2026"/>
          <a:stretch>
            <a:fillRect/>
          </a:stretch>
        </p:blipFill>
        <p:spPr>
          <a:xfrm>
            <a:off x="159681" y="6477000"/>
            <a:ext cx="1872604" cy="368669"/>
          </a:xfrm>
          <a:prstGeom prst="rect">
            <a:avLst/>
          </a:prstGeom>
        </p:spPr>
      </p:pic>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s>
</file>

<file path=ppt/slides/_rels/slide2.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4.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image" Target="../media/image18.png"/><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image" Target="../media/image13.png"/></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13.xml"/><Relationship Id="rId3" Type="http://schemas.openxmlformats.org/officeDocument/2006/relationships/image" Target="../media/image19.svg"/><Relationship Id="rId2" Type="http://schemas.openxmlformats.org/officeDocument/2006/relationships/image" Target="../media/image16.png"/><Relationship Id="rId1" Type="http://schemas.openxmlformats.org/officeDocument/2006/relationships/image" Target="../media/image13.png"/></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17.svg"/><Relationship Id="rId2" Type="http://schemas.openxmlformats.org/officeDocument/2006/relationships/image" Target="../media/image22.png"/><Relationship Id="rId1" Type="http://schemas.openxmlformats.org/officeDocument/2006/relationships/image" Target="../media/image13.png"/></Relationships>
</file>

<file path=ppt/slides/_rels/slide8.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9.png"/><Relationship Id="rId7" Type="http://schemas.openxmlformats.org/officeDocument/2006/relationships/image" Target="../media/image28.png"/><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9.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0.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1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20.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1.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2.png"/><Relationship Id="rId3" Type="http://schemas.openxmlformats.org/officeDocument/2006/relationships/image" Target="../media/image17.svg"/><Relationship Id="rId2" Type="http://schemas.openxmlformats.org/officeDocument/2006/relationships/image" Target="../media/image22.png"/><Relationship Id="rId1" Type="http://schemas.openxmlformats.org/officeDocument/2006/relationships/image" Target="../media/image13.png"/></Relationships>
</file>

<file path=ppt/slides/_rels/slide14.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12.svg"/><Relationship Id="rId3" Type="http://schemas.openxmlformats.org/officeDocument/2006/relationships/image" Target="../media/image11.png"/><Relationship Id="rId2" Type="http://schemas.openxmlformats.org/officeDocument/2006/relationships/image" Target="../media/image8.svg"/><Relationship Id="rId1"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形 10"/>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2536" y="4697875"/>
            <a:ext cx="12214536" cy="2171700"/>
          </a:xfrm>
          <a:prstGeom prst="rect">
            <a:avLst/>
          </a:prstGeom>
        </p:spPr>
      </p:pic>
      <p:pic>
        <p:nvPicPr>
          <p:cNvPr id="3" name="图形 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7832383" y="3561613"/>
            <a:ext cx="3946033" cy="3195348"/>
          </a:xfrm>
          <a:prstGeom prst="rect">
            <a:avLst/>
          </a:prstGeom>
        </p:spPr>
      </p:pic>
      <p:sp>
        <p:nvSpPr>
          <p:cNvPr id="6" name="文本框 5"/>
          <p:cNvSpPr txBox="1"/>
          <p:nvPr/>
        </p:nvSpPr>
        <p:spPr>
          <a:xfrm>
            <a:off x="1015210" y="1034525"/>
            <a:ext cx="10139045" cy="193802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effectLst/>
                <a:uLnTx/>
                <a:uFillTx/>
                <a:latin typeface="Times New Roman" panose="02020603050405020304" charset="0"/>
                <a:ea typeface="思源黑体 CN Light" panose="020B0300000000000000" pitchFamily="34" charset="-122"/>
                <a:cs typeface="Times New Roman" panose="02020603050405020304" charset="0"/>
              </a:rPr>
              <a:t>Project Proposal</a:t>
            </a:r>
            <a:endParaRPr kumimoji="0" lang="en-US" altLang="zh-CN" sz="4000" i="0" u="none" strike="noStrike" kern="1200" cap="none" spc="300" normalizeH="0" baseline="0" noProof="0" dirty="0">
              <a:ln>
                <a:noFill/>
              </a:ln>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Evolutionary Neural Architecture Search </a:t>
            </a:r>
            <a:endPar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Based on NAS-Bench-101</a:t>
            </a:r>
            <a:endPar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endParaRPr>
          </a:p>
        </p:txBody>
      </p:sp>
      <p:sp>
        <p:nvSpPr>
          <p:cNvPr id="2" name="矩形 1"/>
          <p:cNvSpPr/>
          <p:nvPr/>
        </p:nvSpPr>
        <p:spPr>
          <a:xfrm flipV="1">
            <a:off x="2155309" y="3089376"/>
            <a:ext cx="7611924" cy="98775"/>
          </a:xfrm>
          <a:prstGeom prst="rect">
            <a:avLst/>
          </a:prstGeom>
          <a:solidFill>
            <a:srgbClr val="003F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pic>
        <p:nvPicPr>
          <p:cNvPr id="4" name="图形 3"/>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9467" y="5746995"/>
            <a:ext cx="3057110" cy="561730"/>
          </a:xfrm>
          <a:prstGeom prst="rect">
            <a:avLst/>
          </a:prstGeom>
        </p:spPr>
      </p:pic>
      <p:sp>
        <p:nvSpPr>
          <p:cNvPr id="5" name="文本框 4"/>
          <p:cNvSpPr txBox="1"/>
          <p:nvPr/>
        </p:nvSpPr>
        <p:spPr>
          <a:xfrm>
            <a:off x="3751091" y="3310784"/>
            <a:ext cx="4030737" cy="255333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Group Members</a:t>
            </a: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  </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陈哲葳   </a:t>
            </a:r>
            <a:r>
              <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12</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540020</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陈奕冲   </a:t>
            </a:r>
            <a:r>
              <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12532567</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张阳     </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 12532611</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    </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2025</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年</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12</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月</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8</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日</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29006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Introduction</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415" y="1620520"/>
            <a:ext cx="8789670" cy="4519295"/>
          </a:xfrm>
          <a:prstGeom prst="rect">
            <a:avLst/>
          </a:prstGeom>
          <a:noFill/>
        </p:spPr>
        <p:txBody>
          <a:bodyPr wrap="square" rtlCol="0">
            <a:noAutofit/>
          </a:bodyPr>
          <a:lstStyle/>
          <a:p>
            <a:pPr marL="800100" lvl="1" indent="-342900" algn="just">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Neural Architecture Search (NAS) </a:t>
            </a:r>
            <a:r>
              <a:rPr lang="en-US" altLang="zh-CN" sz="2400"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aims to automatically design neural network architectures by exploring a large and discrete search space. However, real NAS is extremely costly because each candidate architecture must be fully trained, making fair and controlled comparisons difficult.</a:t>
            </a:r>
            <a:endParaRPr lang="en-US" altLang="zh-CN" sz="2400"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endParaRPr>
          </a:p>
          <a:p>
            <a:pPr marL="800100" lvl="1" indent="-342900" algn="just">
              <a:buFont typeface="Arial" panose="020B0604020202020204" pitchFamily="34" charset="0"/>
              <a:buChar char="•"/>
            </a:pPr>
            <a:endParaRPr lang="en-US" altLang="zh-CN" sz="2400"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endParaRPr>
          </a:p>
          <a:p>
            <a:pPr marL="800100" lvl="1" indent="-342900" algn="just">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思源黑体 CN Bold" panose="020B0800000000000000"/>
                <a:cs typeface="Times New Roman" panose="02020603050405020304" charset="0"/>
              </a:rPr>
              <a:t>Evolutionary Algorithms (EA) </a:t>
            </a: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fit this task well: they do not rely on gradients, handle discrete graph structures naturally, maintain population diversity, and avoid getting trapped in local optima. Prior work also shows that EA performs competitively in irregular combinatorial spaces like NAS-Bench-101.</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pic>
        <p:nvPicPr>
          <p:cNvPr id="3" name="图片 2"/>
          <p:cNvPicPr>
            <a:picLocks noChangeAspect="1"/>
          </p:cNvPicPr>
          <p:nvPr/>
        </p:nvPicPr>
        <p:blipFill>
          <a:blip r:embed="rId4"/>
          <a:stretch>
            <a:fillRect/>
          </a:stretch>
        </p:blipFill>
        <p:spPr>
          <a:xfrm>
            <a:off x="9982835" y="1306830"/>
            <a:ext cx="1696720" cy="2432050"/>
          </a:xfrm>
          <a:prstGeom prst="rect">
            <a:avLst/>
          </a:prstGeom>
        </p:spPr>
      </p:pic>
      <p:pic>
        <p:nvPicPr>
          <p:cNvPr id="4" name="图片 3"/>
          <p:cNvPicPr>
            <a:picLocks noChangeAspect="1"/>
          </p:cNvPicPr>
          <p:nvPr/>
        </p:nvPicPr>
        <p:blipFill>
          <a:blip r:embed="rId5"/>
          <a:stretch>
            <a:fillRect/>
          </a:stretch>
        </p:blipFill>
        <p:spPr>
          <a:xfrm>
            <a:off x="9982835" y="3806190"/>
            <a:ext cx="2021205" cy="19342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14401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Goals</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906470"/>
            <a:ext cx="9584914" cy="3415030"/>
          </a:xfrm>
          <a:prstGeom prst="rect">
            <a:avLst/>
          </a:prstGeom>
          <a:noFill/>
        </p:spPr>
        <p:txBody>
          <a:bodyPr wrap="square" rtlCol="0">
            <a:sp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Based on these motivations, we plan to apply an evolutionary algorithm to search the NAS-Bench-101 cell space.</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Specifically</a:t>
            </a:r>
            <a:r>
              <a:rPr lang="zh-CN" altLang="en-US"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Encoding architectures using adjacency matrices and operation labels, </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Evolve a population through mutation and selection,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Query their accuracy from the NAS-Bench-101 lookup table, </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Analyze how EA explores the search space, converges, and identifies high-performing cell structures.</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14706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Related Work</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9584914" cy="460375"/>
          </a:xfrm>
          <a:prstGeom prst="rect">
            <a:avLst/>
          </a:prstGeom>
          <a:noFill/>
        </p:spPr>
        <p:txBody>
          <a:bodyPr wrap="square" rtlCol="0">
            <a:sp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NAS-Bench-101: Towards Reproducible Neural Architecture Search</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p:txBody>
      </p:sp>
      <p:pic>
        <p:nvPicPr>
          <p:cNvPr id="3" name="图片 2"/>
          <p:cNvPicPr>
            <a:picLocks noChangeAspect="1"/>
          </p:cNvPicPr>
          <p:nvPr/>
        </p:nvPicPr>
        <p:blipFill>
          <a:blip r:embed="rId4"/>
          <a:stretch>
            <a:fillRect/>
          </a:stretch>
        </p:blipFill>
        <p:spPr>
          <a:xfrm>
            <a:off x="2350135" y="2601595"/>
            <a:ext cx="6953250" cy="3238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14706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Related Work</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9584914" cy="3415030"/>
          </a:xfrm>
          <a:prstGeom prst="rect">
            <a:avLst/>
          </a:prstGeom>
          <a:noFill/>
        </p:spPr>
        <p:txBody>
          <a:bodyPr wrap="square" rtlCol="0">
            <a:sp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This work trained and evaluated all of these architectures multiple times on CIFAR-10 and compiled the results into a large dataset of over 5 million trained models -- NAS-Bench-101.</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This allows researchers to evaluate the quality of a diverse range of models in milliseconds by querying the precomputed dataset. </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They demonstrate its utility by analyzing the dataset as a whole and by benchmarking a range of architecture optimization algorithms.</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5181600" cy="3215005"/>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Representation</a:t>
            </a:r>
            <a:r>
              <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0 → 1×1 Convolution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1 → 3×3 Convolution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2 → 3×3 Max Pooling</a:t>
            </a:r>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Fitness:</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sp>
        <p:nvSpPr>
          <p:cNvPr id="3" name="文本框 2"/>
          <p:cNvSpPr txBox="1"/>
          <p:nvPr/>
        </p:nvSpPr>
        <p:spPr>
          <a:xfrm>
            <a:off x="6847205" y="4251960"/>
            <a:ext cx="267970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Adjacency Matrix and operation vector</a:t>
            </a:r>
            <a:r>
              <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rPr>
              <a:t> </a:t>
            </a:r>
            <a:endPar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4" name="图片 3"/>
          <p:cNvPicPr>
            <a:picLocks noChangeAspect="1"/>
          </p:cNvPicPr>
          <p:nvPr/>
        </p:nvPicPr>
        <p:blipFill>
          <a:blip r:embed="rId4"/>
          <a:stretch>
            <a:fillRect/>
          </a:stretch>
        </p:blipFill>
        <p:spPr>
          <a:xfrm>
            <a:off x="7166610" y="1894840"/>
            <a:ext cx="4347845" cy="2252980"/>
          </a:xfrm>
          <a:prstGeom prst="rect">
            <a:avLst/>
          </a:prstGeom>
        </p:spPr>
      </p:pic>
      <p:sp>
        <p:nvSpPr>
          <p:cNvPr id="7" name="文本框 6"/>
          <p:cNvSpPr txBox="1"/>
          <p:nvPr/>
        </p:nvSpPr>
        <p:spPr>
          <a:xfrm>
            <a:off x="9448800" y="4251960"/>
            <a:ext cx="178435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Cell DAG Visualization</a:t>
            </a:r>
            <a:endParaRPr lang="en-US" altLang="zh-CN" sz="1600" dirty="0">
              <a:solidFill>
                <a:srgbClr val="06383C"/>
              </a:solidFill>
              <a:latin typeface="Times New Roman" panose="02020603050405020304" charset="0"/>
              <a:ea typeface="思源黑体 CN Bold" panose="020B0800000000000000"/>
              <a:cs typeface="Times New Roman" panose="02020603050405020304" charset="0"/>
            </a:endParaRPr>
          </a:p>
        </p:txBody>
      </p:sp>
      <p:pic>
        <p:nvPicPr>
          <p:cNvPr id="10" name="图片 9"/>
          <p:cNvPicPr>
            <a:picLocks noChangeAspect="1"/>
          </p:cNvPicPr>
          <p:nvPr/>
        </p:nvPicPr>
        <p:blipFill>
          <a:blip r:embed="rId5"/>
          <a:srcRect r="3009" b="4016"/>
          <a:stretch>
            <a:fillRect/>
          </a:stretch>
        </p:blipFill>
        <p:spPr>
          <a:xfrm>
            <a:off x="1667510" y="4361180"/>
            <a:ext cx="4652645" cy="6064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257175"/>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pic>
        <p:nvPicPr>
          <p:cNvPr id="12" name="图片 11" descr="output3"/>
          <p:cNvPicPr>
            <a:picLocks noChangeAspect="1"/>
          </p:cNvPicPr>
          <p:nvPr/>
        </p:nvPicPr>
        <p:blipFill>
          <a:blip r:embed="rId4"/>
          <a:stretch>
            <a:fillRect/>
          </a:stretch>
        </p:blipFill>
        <p:spPr>
          <a:xfrm>
            <a:off x="1207135" y="1875155"/>
            <a:ext cx="5379085" cy="3296285"/>
          </a:xfrm>
          <a:prstGeom prst="rect">
            <a:avLst/>
          </a:prstGeom>
        </p:spPr>
      </p:pic>
      <p:sp>
        <p:nvSpPr>
          <p:cNvPr id="14" name="文本框 13"/>
          <p:cNvSpPr txBox="1"/>
          <p:nvPr/>
        </p:nvSpPr>
        <p:spPr>
          <a:xfrm>
            <a:off x="1311275" y="1017270"/>
            <a:ext cx="2219325" cy="391160"/>
          </a:xfrm>
          <a:prstGeom prst="rect">
            <a:avLst/>
          </a:prstGeom>
        </p:spPr>
        <p:txBody>
          <a:bodyPr>
            <a:noAutofit/>
          </a:bodyPr>
          <a:p>
            <a:pPr marL="0" indent="0">
              <a:spcAft>
                <a:spcPct val="60000"/>
              </a:spcAft>
            </a:pPr>
            <a:r>
              <a:rPr lang="en-US" altLang="zh-CN" sz="2400" b="0" i="0">
                <a:solidFill>
                  <a:srgbClr val="191B1F"/>
                </a:solidFill>
                <a:latin typeface="Times New Roman" panose="02020603050405020304" charset="0"/>
                <a:ea typeface="微软雅黑" panose="020B0503020204020204" pitchFamily="34" charset="-122"/>
                <a:cs typeface="Times New Roman" panose="02020603050405020304" charset="0"/>
              </a:rPr>
              <a:t>AmoebaNet</a:t>
            </a:r>
            <a:endParaRPr lang="en-US" altLang="zh-CN" sz="2400" b="0" i="0">
              <a:solidFill>
                <a:srgbClr val="191B1F"/>
              </a:solidFill>
              <a:latin typeface="Times New Roman" panose="02020603050405020304" charset="0"/>
              <a:ea typeface="微软雅黑" panose="020B0503020204020204" pitchFamily="34" charset="-122"/>
              <a:cs typeface="Times New Roman" panose="02020603050405020304" charset="0"/>
            </a:endParaRPr>
          </a:p>
        </p:txBody>
      </p:sp>
      <p:pic>
        <p:nvPicPr>
          <p:cNvPr id="15" name="图片 14" descr="output"/>
          <p:cNvPicPr>
            <a:picLocks noChangeAspect="1"/>
          </p:cNvPicPr>
          <p:nvPr/>
        </p:nvPicPr>
        <p:blipFill>
          <a:blip r:embed="rId5"/>
          <a:stretch>
            <a:fillRect/>
          </a:stretch>
        </p:blipFill>
        <p:spPr>
          <a:xfrm>
            <a:off x="7241540" y="1104265"/>
            <a:ext cx="3738245" cy="5367020"/>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430219"/>
            <a:ext cx="5181600" cy="4692650"/>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Selection:</a:t>
            </a:r>
            <a:endPar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lvl="0" indent="-457200">
              <a:lnSpc>
                <a:spcPct val="150000"/>
              </a:lnSpc>
              <a:spcBef>
                <a:spcPts val="1200"/>
              </a:spcBef>
              <a:buFont typeface="Arial" panose="020B0604020202020204" pitchFamily="34" charset="0"/>
              <a:buChar char="•"/>
              <a:defRPr/>
            </a:pPr>
            <a:endPar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Crossover:</a:t>
            </a: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rPr>
              <a:t>Mutation</a:t>
            </a:r>
            <a:r>
              <a:rPr lang="zh-CN" altLang="en-US"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12" name="图片 11"/>
          <p:cNvPicPr>
            <a:picLocks noChangeAspect="1"/>
          </p:cNvPicPr>
          <p:nvPr/>
        </p:nvPicPr>
        <p:blipFill>
          <a:blip r:embed="rId4"/>
          <a:stretch>
            <a:fillRect/>
          </a:stretch>
        </p:blipFill>
        <p:spPr>
          <a:xfrm>
            <a:off x="2995301" y="5538885"/>
            <a:ext cx="2286635" cy="525145"/>
          </a:xfrm>
          <a:prstGeom prst="rect">
            <a:avLst/>
          </a:prstGeom>
        </p:spPr>
      </p:pic>
      <p:pic>
        <p:nvPicPr>
          <p:cNvPr id="13" name="图片 12"/>
          <p:cNvPicPr>
            <a:picLocks noChangeAspect="1"/>
          </p:cNvPicPr>
          <p:nvPr/>
        </p:nvPicPr>
        <p:blipFill>
          <a:blip r:embed="rId5"/>
          <a:stretch>
            <a:fillRect/>
          </a:stretch>
        </p:blipFill>
        <p:spPr>
          <a:xfrm>
            <a:off x="5970905" y="5539363"/>
            <a:ext cx="3423920" cy="532765"/>
          </a:xfrm>
          <a:prstGeom prst="rect">
            <a:avLst/>
          </a:prstGeom>
        </p:spPr>
      </p:pic>
      <p:pic>
        <p:nvPicPr>
          <p:cNvPr id="14" name="图片 13"/>
          <p:cNvPicPr>
            <a:picLocks noChangeAspect="1"/>
          </p:cNvPicPr>
          <p:nvPr/>
        </p:nvPicPr>
        <p:blipFill>
          <a:blip r:embed="rId6"/>
          <a:stretch>
            <a:fillRect/>
          </a:stretch>
        </p:blipFill>
        <p:spPr>
          <a:xfrm>
            <a:off x="3989705" y="2239645"/>
            <a:ext cx="3238500" cy="638175"/>
          </a:xfrm>
          <a:prstGeom prst="rect">
            <a:avLst/>
          </a:prstGeom>
        </p:spPr>
      </p:pic>
      <p:pic>
        <p:nvPicPr>
          <p:cNvPr id="4" name="图片 3"/>
          <p:cNvPicPr>
            <a:picLocks noChangeAspect="1"/>
          </p:cNvPicPr>
          <p:nvPr/>
        </p:nvPicPr>
        <p:blipFill>
          <a:blip r:embed="rId7"/>
          <a:stretch>
            <a:fillRect/>
          </a:stretch>
        </p:blipFill>
        <p:spPr>
          <a:xfrm>
            <a:off x="2647950" y="3846195"/>
            <a:ext cx="3568065" cy="1008380"/>
          </a:xfrm>
          <a:prstGeom prst="rect">
            <a:avLst/>
          </a:prstGeom>
        </p:spPr>
      </p:pic>
      <p:pic>
        <p:nvPicPr>
          <p:cNvPr id="7" name="图片 6"/>
          <p:cNvPicPr>
            <a:picLocks noChangeAspect="1"/>
          </p:cNvPicPr>
          <p:nvPr/>
        </p:nvPicPr>
        <p:blipFill>
          <a:blip r:embed="rId8"/>
          <a:stretch>
            <a:fillRect/>
          </a:stretch>
        </p:blipFill>
        <p:spPr>
          <a:xfrm>
            <a:off x="7227570" y="3740150"/>
            <a:ext cx="3333115" cy="11144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515995"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Tools Required</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0" y="1620720"/>
            <a:ext cx="8397710" cy="2722880"/>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Python </a:t>
            </a:r>
            <a:r>
              <a:rPr lang="zh-CN" altLang="en-US"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packages and modules like </a:t>
            </a:r>
            <a:r>
              <a:rPr lang="en-US" altLang="zh-CN" sz="2400" i="1" dirty="0">
                <a:solidFill>
                  <a:schemeClr val="bg2">
                    <a:lumMod val="10000"/>
                  </a:schemeClr>
                </a:solidFill>
                <a:latin typeface="Times New Roman" panose="02020603050405020304" charset="0"/>
                <a:ea typeface="思源黑体 CN Bold" panose="020B0800000000000000"/>
                <a:cs typeface="Times New Roman" panose="02020603050405020304" charset="0"/>
              </a:rPr>
              <a:t>NumPy</a:t>
            </a:r>
            <a:r>
              <a:rPr lang="zh-CN" altLang="en-US" sz="2400" i="1"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r>
              <a:rPr lang="en-US" altLang="zh-CN" sz="2400" i="1" dirty="0">
                <a:solidFill>
                  <a:schemeClr val="bg2">
                    <a:lumMod val="10000"/>
                  </a:schemeClr>
                </a:solidFill>
                <a:latin typeface="Times New Roman" panose="02020603050405020304" charset="0"/>
                <a:ea typeface="思源黑体 CN Bold" panose="020B0800000000000000"/>
                <a:cs typeface="Times New Roman" panose="02020603050405020304" charset="0"/>
              </a:rPr>
              <a:t>Pandas, Matplotlib…</a:t>
            </a:r>
            <a:endParaRPr lang="en-US" altLang="zh-CN" sz="2400" i="1"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NAS-Bench-101:</a:t>
            </a: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5" name="图片 4" descr="fig3"/>
          <p:cNvPicPr>
            <a:picLocks noChangeAspect="1"/>
          </p:cNvPicPr>
          <p:nvPr/>
        </p:nvPicPr>
        <p:blipFill>
          <a:blip r:embed="rId4"/>
          <a:stretch>
            <a:fillRect/>
          </a:stretch>
        </p:blipFill>
        <p:spPr>
          <a:xfrm>
            <a:off x="1407167" y="3941620"/>
            <a:ext cx="8973512" cy="23563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8023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Expected results</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3" name="文本框 2"/>
          <p:cNvSpPr txBox="1"/>
          <p:nvPr/>
        </p:nvSpPr>
        <p:spPr>
          <a:xfrm>
            <a:off x="685165" y="1627505"/>
            <a:ext cx="8560435" cy="4219575"/>
          </a:xfrm>
          <a:prstGeom prst="rect">
            <a:avLst/>
          </a:prstGeom>
          <a:noFill/>
        </p:spPr>
        <p:txBody>
          <a:bodyPr wrap="square" rtlCol="0">
            <a:no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The population, which is a sound representation of the problem space, engages in the generation of new populations (solutions) through mechanisms such as crossover, mutation, and tournament selection.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Evaluation of the population reveals its convergent characteristic toward progressively superior solutions. </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Ultimately, the algorithm is capable of discovering the optimal network architecture, or one that is highly competitive with the best solution present within the dataset.</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pic>
        <p:nvPicPr>
          <p:cNvPr id="4" name="图片 3"/>
          <p:cNvPicPr>
            <a:picLocks noChangeAspect="1"/>
          </p:cNvPicPr>
          <p:nvPr/>
        </p:nvPicPr>
        <p:blipFill>
          <a:blip r:embed="rId4"/>
          <a:stretch>
            <a:fillRect/>
          </a:stretch>
        </p:blipFill>
        <p:spPr>
          <a:xfrm>
            <a:off x="9307195" y="1838960"/>
            <a:ext cx="2368550" cy="1227455"/>
          </a:xfrm>
          <a:prstGeom prst="rect">
            <a:avLst/>
          </a:prstGeom>
        </p:spPr>
      </p:pic>
      <p:cxnSp>
        <p:nvCxnSpPr>
          <p:cNvPr id="16" name="直接箭头连接符 15"/>
          <p:cNvCxnSpPr/>
          <p:nvPr/>
        </p:nvCxnSpPr>
        <p:spPr>
          <a:xfrm>
            <a:off x="10386060" y="2268855"/>
            <a:ext cx="210820"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9435783" y="4581525"/>
            <a:ext cx="23164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思源黑体 CN Bold" panose="020B0800000000000000" pitchFamily="34" charset="-122"/>
                <a:ea typeface="思源黑体 CN Bold" panose="020B0800000000000000" pitchFamily="34" charset="-122"/>
              </a:rPr>
              <a:t>Optimal!</a:t>
            </a:r>
            <a:endParaRPr kumimoji="0" lang="zh-CN" altLang="en-US" sz="3600" b="0" i="0" u="none" strike="noStrike" kern="1200" cap="none" spc="300" normalizeH="0" baseline="0" noProof="0" dirty="0">
              <a:ln>
                <a:noFill/>
              </a:ln>
              <a:solidFill>
                <a:srgbClr val="003F43"/>
              </a:solidFill>
              <a:effectLst/>
              <a:uLnTx/>
              <a:uFillTx/>
              <a:latin typeface="思源黑体 CN Bold" panose="020B0800000000000000" pitchFamily="34" charset="-122"/>
              <a:ea typeface="思源黑体 CN Bold" panose="020B0800000000000000" pitchFamily="34" charset="-122"/>
            </a:endParaRPr>
          </a:p>
        </p:txBody>
      </p:sp>
      <p:cxnSp>
        <p:nvCxnSpPr>
          <p:cNvPr id="18" name="直接箭头连接符 17"/>
          <p:cNvCxnSpPr/>
          <p:nvPr/>
        </p:nvCxnSpPr>
        <p:spPr>
          <a:xfrm>
            <a:off x="9679305" y="4358005"/>
            <a:ext cx="183007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9" name="直接箭头连接符 18"/>
          <p:cNvCxnSpPr/>
          <p:nvPr/>
        </p:nvCxnSpPr>
        <p:spPr>
          <a:xfrm flipH="1" flipV="1">
            <a:off x="9679305" y="3234055"/>
            <a:ext cx="3810" cy="11239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20" name="弧形 19"/>
          <p:cNvSpPr/>
          <p:nvPr/>
        </p:nvSpPr>
        <p:spPr>
          <a:xfrm rot="10620000">
            <a:off x="9986010" y="2684145"/>
            <a:ext cx="1652270" cy="1488440"/>
          </a:xfrm>
          <a:prstGeom prst="arc">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4227195"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Task</a:t>
            </a: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s Distribution</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430219"/>
            <a:ext cx="9574810" cy="5061585"/>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err="1">
                <a:solidFill>
                  <a:schemeClr val="bg2">
                    <a:lumMod val="10000"/>
                  </a:schemeClr>
                </a:solidFill>
                <a:latin typeface="Times New Roman" panose="02020603050405020304" charset="0"/>
                <a:ea typeface="思源黑体 CN Bold" panose="020B0800000000000000"/>
                <a:cs typeface="Times New Roman" panose="02020603050405020304" charset="0"/>
              </a:rPr>
              <a:t>Zhewei</a:t>
            </a: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 Chen</a:t>
            </a:r>
            <a:r>
              <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0" algn="l">
              <a:lnSpc>
                <a:spcPct val="50000"/>
              </a:lnSpc>
              <a:spcBef>
                <a:spcPts val="1200"/>
              </a:spcBef>
              <a:buClrTx/>
              <a:buSzTx/>
              <a:buFontTx/>
              <a:buChar char="-"/>
            </a:pPr>
            <a:r>
              <a:rPr lang="en-US" altLang="zh-CN" sz="2000" dirty="0">
                <a:solidFill>
                  <a:srgbClr val="F2F2F2">
                    <a:lumMod val="10000"/>
                  </a:srgbClr>
                </a:solidFill>
                <a:latin typeface="Times New Roman" panose="02020603050405020304" charset="0"/>
                <a:ea typeface="思源黑体 CN Bold" panose="020B0800000000000000"/>
                <a:cs typeface="Times New Roman" panose="02020603050405020304" charset="0"/>
              </a:rPr>
              <a:t> Surv</a:t>
            </a:r>
            <a:r>
              <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rPr>
              <a:t>ey research on NAS, NAS-Bench-101, and EA-based NAS </a:t>
            </a: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0" algn="l">
              <a:lnSpc>
                <a:spcPct val="50000"/>
              </a:lnSpc>
              <a:spcBef>
                <a:spcPts val="1200"/>
              </a:spcBef>
              <a:buClrTx/>
              <a:buSzTx/>
              <a:buNone/>
            </a:pPr>
            <a:r>
              <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rPr>
              <a:t>- Build the EA search framework (encoding, mutation, selection)</a:t>
            </a: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0" algn="l">
              <a:lnSpc>
                <a:spcPct val="50000"/>
              </a:lnSpc>
              <a:spcBef>
                <a:spcPts val="1200"/>
              </a:spcBef>
              <a:buClrTx/>
              <a:buSzTx/>
              <a:buNone/>
            </a:pP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r>
              <a:rPr lang="en-US" altLang="zh-CN" sz="2800" dirty="0" err="1">
                <a:solidFill>
                  <a:schemeClr val="bg2">
                    <a:lumMod val="10000"/>
                  </a:schemeClr>
                </a:solidFill>
                <a:latin typeface="Times New Roman" panose="02020603050405020304" charset="0"/>
                <a:ea typeface="思源黑体 CN Bold" panose="020B0800000000000000"/>
                <a:cs typeface="Times New Roman" panose="02020603050405020304" charset="0"/>
              </a:rPr>
              <a:t>Yichong</a:t>
            </a: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 Chen:</a:t>
            </a: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r>
              <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rPr>
              <a:t>- Implement NAS-Bench-101 architecture parsing and lookup</a:t>
            </a: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r>
              <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rPr>
              <a:t>- Debug and ensure stable execution of the core algorithm</a:t>
            </a: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Yang Zhang</a:t>
            </a:r>
            <a:r>
              <a:rPr lang="zh-CN" altLang="en-US"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r>
              <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rPr>
              <a:t>- Design experimental setup (budgets, parameters, baselines)</a:t>
            </a: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r>
              <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rPr>
              <a:t>- Run EA search and collect metrics (best accuracy, convergence)</a:t>
            </a: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r>
              <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rPr>
              <a:t>- Visualize results and analyze search behavior/patterns</a:t>
            </a:r>
            <a:endParaRPr lang="en-US" altLang="zh-CN" sz="20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0">
              <a:lnSpc>
                <a:spcPct val="150000"/>
              </a:lnSpc>
              <a:spcBef>
                <a:spcPts val="1200"/>
              </a:spcBef>
              <a:defRPr/>
            </a:pP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420497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Time Management</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5181600" cy="2120902"/>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Python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NAS-Bench-101: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3" name="图片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37426"/>
            <a:ext cx="12185374" cy="25880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6255" y="560070"/>
            <a:ext cx="4444365" cy="64516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Future Work</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415" y="1620520"/>
            <a:ext cx="8260715" cy="2168525"/>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Explore multi-objective optimization</a:t>
            </a: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indent="0">
              <a:buFont typeface="Arial" panose="020B0604020202020204" pitchFamily="34" charset="0"/>
              <a:buNone/>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4" name="图片 3"/>
          <p:cNvPicPr>
            <a:picLocks noChangeAspect="1"/>
          </p:cNvPicPr>
          <p:nvPr/>
        </p:nvPicPr>
        <p:blipFill>
          <a:blip r:embed="rId4"/>
          <a:stretch>
            <a:fillRect/>
          </a:stretch>
        </p:blipFill>
        <p:spPr>
          <a:xfrm>
            <a:off x="2988310" y="2950210"/>
            <a:ext cx="6214745" cy="19075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形 10"/>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2536" y="4697875"/>
            <a:ext cx="12214536" cy="2171700"/>
          </a:xfrm>
          <a:prstGeom prst="rect">
            <a:avLst/>
          </a:prstGeom>
        </p:spPr>
      </p:pic>
      <p:sp>
        <p:nvSpPr>
          <p:cNvPr id="6" name="文本框 5"/>
          <p:cNvSpPr txBox="1"/>
          <p:nvPr/>
        </p:nvSpPr>
        <p:spPr>
          <a:xfrm>
            <a:off x="6450330" y="1859280"/>
            <a:ext cx="4356735" cy="170307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Thank You</a:t>
            </a:r>
            <a:endParaRPr kumimoji="0" lang="en-US" altLang="zh-CN" sz="6000" b="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2F2E41"/>
                </a:solidFill>
                <a:effectLst/>
                <a:uLnTx/>
                <a:uFillTx/>
                <a:latin typeface="Times New Roman" panose="02020603050405020304" charset="0"/>
                <a:ea typeface="思源黑体 CN Bold" panose="020B0800000000000000" pitchFamily="34" charset="-122"/>
                <a:cs typeface="Times New Roman" panose="02020603050405020304" charset="0"/>
              </a:rPr>
              <a:t>for your listening</a:t>
            </a:r>
            <a:endParaRPr kumimoji="0" lang="en-US" altLang="zh-CN" sz="3600" b="0" i="0" u="none" strike="noStrike" kern="1200" cap="none" spc="300" normalizeH="0" baseline="0" noProof="0" dirty="0">
              <a:ln>
                <a:noFill/>
              </a:ln>
              <a:solidFill>
                <a:srgbClr val="2F2E41"/>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2" name="矩形 1"/>
          <p:cNvSpPr/>
          <p:nvPr/>
        </p:nvSpPr>
        <p:spPr>
          <a:xfrm>
            <a:off x="6589105" y="3708221"/>
            <a:ext cx="1089660" cy="68580"/>
          </a:xfrm>
          <a:prstGeom prst="rect">
            <a:avLst/>
          </a:prstGeom>
          <a:solidFill>
            <a:srgbClr val="003F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pic>
        <p:nvPicPr>
          <p:cNvPr id="9" name="图形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pic>
        <p:nvPicPr>
          <p:cNvPr id="5" name="图形 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185808" y="925975"/>
            <a:ext cx="6299125" cy="5006050"/>
          </a:xfrm>
          <a:prstGeom prst="rect">
            <a:avLst/>
          </a:prstGeom>
        </p:spPr>
      </p:pic>
    </p:spTree>
  </p:cSld>
  <p:clrMapOvr>
    <a:masterClrMapping/>
  </p:clrMapOvr>
</p:sld>
</file>

<file path=ppt/theme/theme1.xml><?xml version="1.0" encoding="utf-8"?>
<a:theme xmlns:a="http://schemas.openxmlformats.org/drawingml/2006/main" name="已停用母版样式">
  <a:themeElements>
    <a:clrScheme name="南方科技大学专属配色方案 01">
      <a:dk1>
        <a:srgbClr val="ED6C00"/>
      </a:dk1>
      <a:lt1>
        <a:srgbClr val="FFFFFF"/>
      </a:lt1>
      <a:dk2>
        <a:srgbClr val="01605A"/>
      </a:dk2>
      <a:lt2>
        <a:srgbClr val="F2F2F2"/>
      </a:lt2>
      <a:accent1>
        <a:srgbClr val="003F43"/>
      </a:accent1>
      <a:accent2>
        <a:srgbClr val="ED6C00"/>
      </a:accent2>
      <a:accent3>
        <a:srgbClr val="2BB7B3"/>
      </a:accent3>
      <a:accent4>
        <a:srgbClr val="01605A"/>
      </a:accent4>
      <a:accent5>
        <a:srgbClr val="77D3D2"/>
      </a:accent5>
      <a:accent6>
        <a:srgbClr val="DBF6EF"/>
      </a:accent6>
      <a:hlink>
        <a:srgbClr val="2BB7B3"/>
      </a:hlink>
      <a:folHlink>
        <a:srgbClr val="01605A"/>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已停用母版样式">
  <a:themeElements>
    <a:clrScheme name="南方科技大学专属配色方案 01">
      <a:dk1>
        <a:srgbClr val="ED6C00"/>
      </a:dk1>
      <a:lt1>
        <a:srgbClr val="FFFFFF"/>
      </a:lt1>
      <a:dk2>
        <a:srgbClr val="01605A"/>
      </a:dk2>
      <a:lt2>
        <a:srgbClr val="F2F2F2"/>
      </a:lt2>
      <a:accent1>
        <a:srgbClr val="003F43"/>
      </a:accent1>
      <a:accent2>
        <a:srgbClr val="ED6C00"/>
      </a:accent2>
      <a:accent3>
        <a:srgbClr val="2BB7B3"/>
      </a:accent3>
      <a:accent4>
        <a:srgbClr val="01605A"/>
      </a:accent4>
      <a:accent5>
        <a:srgbClr val="77D3D2"/>
      </a:accent5>
      <a:accent6>
        <a:srgbClr val="DBF6EF"/>
      </a:accent6>
      <a:hlink>
        <a:srgbClr val="2BB7B3"/>
      </a:hlink>
      <a:folHlink>
        <a:srgbClr val="01605A"/>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3079</Words>
  <Application>WPS 演示</Application>
  <PresentationFormat>宽屏</PresentationFormat>
  <Paragraphs>121</Paragraphs>
  <Slides>14</Slides>
  <Notes>0</Notes>
  <HiddenSlides>0</HiddenSlides>
  <MMClips>0</MMClips>
  <ScaleCrop>false</ScaleCrop>
  <HeadingPairs>
    <vt:vector size="6" baseType="variant">
      <vt:variant>
        <vt:lpstr>已用的字体</vt:lpstr>
      </vt:variant>
      <vt:variant>
        <vt:i4>16</vt:i4>
      </vt:variant>
      <vt:variant>
        <vt:lpstr>主题</vt:lpstr>
      </vt:variant>
      <vt:variant>
        <vt:i4>3</vt:i4>
      </vt:variant>
      <vt:variant>
        <vt:lpstr>幻灯片标题</vt:lpstr>
      </vt:variant>
      <vt:variant>
        <vt:i4>14</vt:i4>
      </vt:variant>
    </vt:vector>
  </HeadingPairs>
  <TitlesOfParts>
    <vt:vector size="33" baseType="lpstr">
      <vt:lpstr>Arial</vt:lpstr>
      <vt:lpstr>宋体</vt:lpstr>
      <vt:lpstr>Wingdings</vt:lpstr>
      <vt:lpstr>Arial</vt:lpstr>
      <vt:lpstr>Times New Roman</vt:lpstr>
      <vt:lpstr>思源黑体 CN Light</vt:lpstr>
      <vt:lpstr>黑体</vt:lpstr>
      <vt:lpstr>等线</vt:lpstr>
      <vt:lpstr>思源黑体 CN Bold</vt:lpstr>
      <vt:lpstr>微软雅黑</vt:lpstr>
      <vt:lpstr>思源黑体 CN Bold</vt:lpstr>
      <vt:lpstr>思源黑体 CN Regular</vt:lpstr>
      <vt:lpstr>Calibri</vt:lpstr>
      <vt:lpstr>Open Sans</vt:lpstr>
      <vt:lpstr>Segoe Print</vt:lpstr>
      <vt:lpstr>Arial Unicode MS</vt:lpstr>
      <vt:lpstr>已停用母版样式</vt:lpstr>
      <vt:lpstr>Office Theme</vt:lpstr>
      <vt:lpstr>1_已停用母版样式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Yaojia Zhang</dc:creator>
  <cp:lastModifiedBy>CYC</cp:lastModifiedBy>
  <cp:revision>119</cp:revision>
  <dcterms:created xsi:type="dcterms:W3CDTF">2019-12-12T09:10:00Z</dcterms:created>
  <dcterms:modified xsi:type="dcterms:W3CDTF">2025-12-07T10:26:32Z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1BC08329D6014F758381CECAC33CA6E9_13</vt:lpwstr>
  </property>
  <property fmtid="{D5CDD505-2E9C-101B-9397-08002B2CF9AE}" pid="3" name="KSOProductBuildVer">
    <vt:lpwstr>2052-12.1.0.24034</vt:lpwstr>
  </property>
</Properties>
</file>