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62" r:id="rId3"/>
  </p:sldMasterIdLst>
  <p:notesMasterIdLst>
    <p:notesMasterId r:id="rId16"/>
  </p:notesMasterIdLst>
  <p:sldIdLst>
    <p:sldId id="268" r:id="rId4"/>
    <p:sldId id="345" r:id="rId5"/>
    <p:sldId id="347" r:id="rId6"/>
    <p:sldId id="339" r:id="rId7"/>
    <p:sldId id="351" r:id="rId8"/>
    <p:sldId id="342" r:id="rId9"/>
    <p:sldId id="350" r:id="rId10"/>
    <p:sldId id="343" r:id="rId11"/>
    <p:sldId id="352" r:id="rId12"/>
    <p:sldId id="349" r:id="rId13"/>
    <p:sldId id="341" r:id="rId14"/>
    <p:sldId id="287" r:id="rId1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0" userDrawn="1">
          <p15:clr>
            <a:srgbClr val="A4A3A4"/>
          </p15:clr>
        </p15:guide>
        <p15:guide id="2" pos="3839" userDrawn="1">
          <p15:clr>
            <a:srgbClr val="A4A3A4"/>
          </p15:clr>
        </p15:guide>
        <p15:guide id="3" orient="horz" pos="352" userDrawn="1">
          <p15:clr>
            <a:srgbClr val="A4A3A4"/>
          </p15:clr>
        </p15:guide>
        <p15:guide id="4" orient="horz" pos="3974" userDrawn="1">
          <p15:clr>
            <a:srgbClr val="A4A3A4"/>
          </p15:clr>
        </p15:guide>
        <p15:guide id="5" pos="325" userDrawn="1">
          <p15:clr>
            <a:srgbClr val="A4A3A4"/>
          </p15:clr>
        </p15:guide>
        <p15:guide id="6" pos="73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F43"/>
    <a:srgbClr val="ED6C00"/>
    <a:srgbClr val="06383C"/>
    <a:srgbClr val="2BB7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9" autoAdjust="0"/>
    <p:restoredTop sz="94660"/>
  </p:normalViewPr>
  <p:slideViewPr>
    <p:cSldViewPr snapToGrid="0" showGuides="1">
      <p:cViewPr varScale="1">
        <p:scale>
          <a:sx n="88" d="100"/>
          <a:sy n="88" d="100"/>
        </p:scale>
        <p:origin x="66" y="109"/>
      </p:cViewPr>
      <p:guideLst>
        <p:guide orient="horz" pos="2140"/>
        <p:guide pos="3839"/>
        <p:guide orient="horz" pos="352"/>
        <p:guide orient="horz" pos="3974"/>
        <p:guide pos="325"/>
        <p:guide pos="73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slide" Target="slides/slide12.xml"/><Relationship Id="rId10" Type="http://schemas.openxmlformats.org/officeDocument/2006/relationships/slide" Target="slides/slide7.xml"/><Relationship Id="rId19"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7"/>
          <p:cNvSpPr>
            <a:spLocks noGrp="1"/>
          </p:cNvSpPr>
          <p:nvPr>
            <p:ph type="ftr" sz="quarter" idx="3"/>
          </p:nvPr>
        </p:nvSpPr>
        <p:spPr>
          <a:xfrm>
            <a:off x="4165600" y="6356351"/>
            <a:ext cx="3860800" cy="365125"/>
          </a:xfrm>
          <a:prstGeom prst="rect">
            <a:avLst/>
          </a:prstGeom>
        </p:spPr>
        <p:txBody>
          <a:bodyPr/>
          <a:lstStyle/>
          <a:p>
            <a:r>
              <a:rPr lang="en-US"/>
              <a:t>TU3C-2</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609600" y="6356351"/>
            <a:ext cx="2844800" cy="365125"/>
          </a:xfrm>
          <a:prstGeom prst="rect">
            <a:avLst/>
          </a:prstGeom>
        </p:spPr>
        <p:txBody>
          <a:bodyPr/>
          <a:lstStyle/>
          <a:p>
            <a:endParaRPr lang="en-US"/>
          </a:p>
        </p:txBody>
      </p:sp>
      <p:sp>
        <p:nvSpPr>
          <p:cNvPr id="8" name="Footer Placeholder 7"/>
          <p:cNvSpPr>
            <a:spLocks noGrp="1"/>
          </p:cNvSpPr>
          <p:nvPr>
            <p:ph type="ftr" sz="quarter" idx="11"/>
          </p:nvPr>
        </p:nvSpPr>
        <p:spPr>
          <a:xfrm>
            <a:off x="4165600" y="6356351"/>
            <a:ext cx="3860800" cy="365125"/>
          </a:xfrm>
          <a:prstGeom prst="rect">
            <a:avLst/>
          </a:prstGeom>
        </p:spPr>
        <p:txBody>
          <a:bodyPr/>
          <a:lstStyle/>
          <a:p>
            <a:r>
              <a:rPr lang="en-US"/>
              <a:t>TU3C-2</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1"/>
            <a:ext cx="2844800" cy="365125"/>
          </a:xfrm>
          <a:prstGeom prst="rect">
            <a:avLst/>
          </a:prstGeom>
        </p:spPr>
        <p:txBody>
          <a:bodyPr/>
          <a:lstStyle/>
          <a:p>
            <a:endParaRPr lang="en-US"/>
          </a:p>
        </p:txBody>
      </p:sp>
      <p:sp>
        <p:nvSpPr>
          <p:cNvPr id="3" name="Footer Placeholder 2"/>
          <p:cNvSpPr>
            <a:spLocks noGrp="1"/>
          </p:cNvSpPr>
          <p:nvPr>
            <p:ph type="ftr" sz="quarter" idx="11"/>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image" Target="../media/image1.png"/><Relationship Id="rId18" Type="http://schemas.openxmlformats.org/officeDocument/2006/relationships/image" Target="../media/image5.jpeg"/><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17" Type="http://schemas.openxmlformats.org/officeDocument/2006/relationships/image" Target="../media/image4.png"/><Relationship Id="rId2" Type="http://schemas.openxmlformats.org/officeDocument/2006/relationships/slideLayout" Target="../slideLayouts/slideLayout3.xml"/><Relationship Id="rId16"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image" Target="../media/image2.png"/><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microsoft.com/office/2007/relationships/hdphoto" Target="../media/hdphoto1.wdp"/></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0" name="Group 19"/>
          <p:cNvGrpSpPr/>
          <p:nvPr userDrawn="1"/>
        </p:nvGrpSpPr>
        <p:grpSpPr>
          <a:xfrm>
            <a:off x="0" y="0"/>
            <a:ext cx="12192000" cy="6858000"/>
            <a:chOff x="0" y="0"/>
            <a:chExt cx="9144000" cy="6858000"/>
          </a:xfrm>
        </p:grpSpPr>
        <p:pic>
          <p:nvPicPr>
            <p:cNvPr id="7" name="Picture 6" descr="location inner.jpg"/>
            <p:cNvPicPr>
              <a:picLocks noChangeAspect="1"/>
            </p:cNvPicPr>
            <p:nvPr userDrawn="1"/>
          </p:nvPicPr>
          <p:blipFill>
            <a:blip r:embed="rId13">
              <a:extLst>
                <a:ext uri="{BEBA8EAE-BF5A-486C-A8C5-ECC9F3942E4B}">
                  <a14:imgProps xmlns:a14="http://schemas.microsoft.com/office/drawing/2010/main">
                    <a14:imgLayer r:embed="rId14">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tretch>
              <a:fillRect/>
            </a:stretch>
          </p:blipFill>
          <p:spPr>
            <a:xfrm>
              <a:off x="0" y="0"/>
              <a:ext cx="9144000" cy="6858000"/>
            </a:xfrm>
            <a:prstGeom prst="rect">
              <a:avLst/>
            </a:prstGeom>
          </p:spPr>
        </p:pic>
        <p:pic>
          <p:nvPicPr>
            <p:cNvPr id="14" name="Picture 13" descr="location inner.jpg"/>
            <p:cNvPicPr>
              <a:picLocks noChangeAspect="1"/>
            </p:cNvPicPr>
            <p:nvPr userDrawn="1"/>
          </p:nvPicPr>
          <p:blipFill rotWithShape="1">
            <a:blip r:embed="rId13">
              <a:extLst>
                <a:ext uri="{BEBA8EAE-BF5A-486C-A8C5-ECC9F3942E4B}">
                  <a14:imgProps xmlns:a14="http://schemas.microsoft.com/office/drawing/2010/main">
                    <a14:imgLayer r:embed="rId14">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rcRect r="63439" b="92264"/>
            <a:stretch>
              <a:fillRect/>
            </a:stretch>
          </p:blipFill>
          <p:spPr>
            <a:xfrm>
              <a:off x="5800846" y="415"/>
              <a:ext cx="3343154" cy="530503"/>
            </a:xfrm>
            <a:prstGeom prst="rect">
              <a:avLst/>
            </a:prstGeom>
          </p:spPr>
        </p:pic>
      </p:grpSp>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 y="-10304"/>
            <a:ext cx="1814284" cy="457200"/>
          </a:xfrm>
          <a:prstGeom prst="rect">
            <a:avLst/>
          </a:prstGeom>
        </p:spPr>
      </p:pic>
      <p:pic>
        <p:nvPicPr>
          <p:cNvPr id="6" name="Picture 5"/>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1695751" y="103996"/>
            <a:ext cx="529047" cy="274320"/>
          </a:xfrm>
          <a:prstGeom prst="rect">
            <a:avLst/>
          </a:prstGeom>
        </p:spPr>
      </p:pic>
      <p:sp>
        <p:nvSpPr>
          <p:cNvPr id="19" name="TextBox 18"/>
          <p:cNvSpPr txBox="1"/>
          <p:nvPr userDrawn="1"/>
        </p:nvSpPr>
        <p:spPr>
          <a:xfrm>
            <a:off x="11561851" y="6401356"/>
            <a:ext cx="396262" cy="307777"/>
          </a:xfrm>
          <a:prstGeom prst="rect">
            <a:avLst/>
          </a:prstGeom>
          <a:noFill/>
        </p:spPr>
        <p:txBody>
          <a:bodyPr wrap="none" rtlCol="0">
            <a:spAutoFit/>
          </a:bodyPr>
          <a:lstStyle/>
          <a:p>
            <a:fld id="{3CB99FC1-9AB2-4FF8-B6FF-6354316A80D6}" type="slidenum">
              <a:rPr lang="en-US" sz="1400" smtClean="0">
                <a:solidFill>
                  <a:schemeClr val="tx1"/>
                </a:solidFill>
              </a:rPr>
              <a:t>‹#›</a:t>
            </a:fld>
            <a:endParaRPr lang="en-US" sz="1400" dirty="0">
              <a:solidFill>
                <a:schemeClr val="tx1"/>
              </a:solidFill>
            </a:endParaRPr>
          </a:p>
        </p:txBody>
      </p:sp>
      <p:sp>
        <p:nvSpPr>
          <p:cNvPr id="21"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p>
        </p:txBody>
      </p:sp>
      <p:pic>
        <p:nvPicPr>
          <p:cNvPr id="11" name="Picture 2"/>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1347531" y="1"/>
            <a:ext cx="844468" cy="609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TextBox 12"/>
          <p:cNvSpPr txBox="1"/>
          <p:nvPr userDrawn="1"/>
        </p:nvSpPr>
        <p:spPr>
          <a:xfrm>
            <a:off x="9662491" y="-4464"/>
            <a:ext cx="665567" cy="461665"/>
          </a:xfrm>
          <a:prstGeom prst="rect">
            <a:avLst/>
          </a:prstGeom>
          <a:noFill/>
        </p:spPr>
        <p:txBody>
          <a:bodyPr wrap="none" rtlCol="0">
            <a:spAutoFit/>
          </a:bodyPr>
          <a:lstStyle/>
          <a:p>
            <a:r>
              <a:rPr lang="en-US" sz="2400" dirty="0">
                <a:solidFill>
                  <a:schemeClr val="bg1"/>
                </a:solidFill>
                <a:latin typeface="+mj-lt"/>
              </a:rPr>
              <a:t>IMS</a:t>
            </a:r>
          </a:p>
        </p:txBody>
      </p:sp>
      <p:pic>
        <p:nvPicPr>
          <p:cNvPr id="15" name="Picture 14" descr="location inner.jpg"/>
          <p:cNvPicPr>
            <a:picLocks noChangeAspect="1"/>
          </p:cNvPicPr>
          <p:nvPr userDrawn="1"/>
        </p:nvPicPr>
        <p:blipFill rotWithShape="1">
          <a:blip r:embed="rId18"/>
          <a:srcRect l="75099" t="89739" r="1372" b="2026"/>
          <a:stretch>
            <a:fillRect/>
          </a:stretch>
        </p:blipFill>
        <p:spPr>
          <a:xfrm>
            <a:off x="159681" y="6477000"/>
            <a:ext cx="1872604" cy="368669"/>
          </a:xfrm>
          <a:prstGeom prst="rect">
            <a:avLst/>
          </a:prstGeom>
        </p:spPr>
      </p:pic>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14.sv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8.gif"/><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0.png"/><Relationship Id="rId7" Type="http://schemas.openxmlformats.org/officeDocument/2006/relationships/image" Target="../media/image2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1.svg"/><Relationship Id="rId9" Type="http://schemas.openxmlformats.org/officeDocument/2006/relationships/image" Target="../media/image23.gif"/></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11.svg"/></Relationships>
</file>

<file path=ppt/slides/_rels/slide12.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31.sv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11.sv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536" y="4697875"/>
            <a:ext cx="12214536" cy="2171700"/>
          </a:xfrm>
          <a:prstGeom prst="rect">
            <a:avLst/>
          </a:prstGeom>
        </p:spPr>
      </p:pic>
      <p:pic>
        <p:nvPicPr>
          <p:cNvPr id="3" name="图形 2"/>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a:fillRect/>
          </a:stretch>
        </p:blipFill>
        <p:spPr>
          <a:xfrm>
            <a:off x="7832383" y="3561613"/>
            <a:ext cx="3946033" cy="3195348"/>
          </a:xfrm>
          <a:prstGeom prst="rect">
            <a:avLst/>
          </a:prstGeom>
        </p:spPr>
      </p:pic>
      <p:sp>
        <p:nvSpPr>
          <p:cNvPr id="6" name="文本框 5"/>
          <p:cNvSpPr txBox="1"/>
          <p:nvPr/>
        </p:nvSpPr>
        <p:spPr>
          <a:xfrm>
            <a:off x="1015210" y="1034525"/>
            <a:ext cx="10139045" cy="193802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effectLst/>
                <a:uLnTx/>
                <a:uFillTx/>
                <a:latin typeface="Times New Roman" panose="02020603050405020304" charset="0"/>
                <a:ea typeface="思源黑体 CN Light" panose="020B0300000000000000" pitchFamily="34" charset="-122"/>
                <a:cs typeface="Times New Roman" panose="02020603050405020304" charset="0"/>
              </a:rPr>
              <a:t>Project Proposal</a:t>
            </a: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Evolutionary Neural Architecture Search </a:t>
            </a: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Based on NAS-Bench-101</a:t>
            </a:r>
          </a:p>
        </p:txBody>
      </p:sp>
      <p:sp>
        <p:nvSpPr>
          <p:cNvPr id="2" name="矩形 1"/>
          <p:cNvSpPr/>
          <p:nvPr/>
        </p:nvSpPr>
        <p:spPr>
          <a:xfrm flipV="1">
            <a:off x="2155309" y="3089376"/>
            <a:ext cx="7611924" cy="98775"/>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4" name="图形 3"/>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19467" y="5746995"/>
            <a:ext cx="3057110" cy="561730"/>
          </a:xfrm>
          <a:prstGeom prst="rect">
            <a:avLst/>
          </a:prstGeom>
        </p:spPr>
      </p:pic>
      <p:sp>
        <p:nvSpPr>
          <p:cNvPr id="5" name="文本框 4"/>
          <p:cNvSpPr txBox="1"/>
          <p:nvPr/>
        </p:nvSpPr>
        <p:spPr>
          <a:xfrm>
            <a:off x="3751091" y="3310784"/>
            <a:ext cx="4030737" cy="255333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Group Members</a:t>
            </a: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  </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陈哲葳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540020</a:t>
            </a: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陈奕冲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12532567</a:t>
            </a:r>
          </a:p>
          <a:p>
            <a:pPr marL="0" marR="0" lvl="0" indent="0" algn="ctr"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张阳     </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12532611</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2025</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年</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12</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月</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8</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日</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346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Topic review</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415" y="1620520"/>
            <a:ext cx="8789670" cy="4519295"/>
          </a:xfrm>
          <a:prstGeom prst="rect">
            <a:avLst/>
          </a:prstGeom>
          <a:noFill/>
        </p:spPr>
        <p:txBody>
          <a:bodyPr wrap="square" rtlCol="0">
            <a:noAutofit/>
          </a:bodyPr>
          <a:lstStyle/>
          <a:p>
            <a:pPr marL="800100" lvl="1" indent="-342900">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Main Goal</a:t>
            </a:r>
            <a:r>
              <a:rPr lang="zh-CN" altLang="en-US"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Apply evolutionary algorithms to search the NAS-Bench-101 cell space. </a:t>
            </a:r>
          </a:p>
          <a:p>
            <a:pPr marL="800100" lvl="1" indent="-342900">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Neural Architecture Search (NAS) </a:t>
            </a:r>
            <a:r>
              <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aims to automatically design neural network architectures by exploring a large and discrete search space. </a:t>
            </a:r>
          </a:p>
          <a:p>
            <a:pPr marL="800100" lvl="1" indent="-342900" algn="just">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Algorithms (EA) </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fit this task well: they do not rely on gradients, handle discrete graph structures naturally, maintain population diversity, and avoid getting trapped in local optima. Prior work also shows that EA performs competitively in irregular combinatorial spaces like NAS-Bench-101.</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321735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Topic Review</a:t>
            </a:r>
          </a:p>
        </p:txBody>
      </p:sp>
      <p:sp>
        <p:nvSpPr>
          <p:cNvPr id="6" name="文本框 5"/>
          <p:cNvSpPr txBox="1"/>
          <p:nvPr/>
        </p:nvSpPr>
        <p:spPr>
          <a:xfrm>
            <a:off x="1034251" y="1620720"/>
            <a:ext cx="9584914" cy="460375"/>
          </a:xfrm>
          <a:prstGeom prst="rect">
            <a:avLst/>
          </a:prstGeom>
          <a:noFill/>
        </p:spPr>
        <p:txBody>
          <a:bodyPr wrap="square" rtlCol="0">
            <a:sp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NAS-Bench-101: Towards Reproducible Neural Architecture Search</a:t>
            </a:r>
          </a:p>
        </p:txBody>
      </p:sp>
      <p:pic>
        <p:nvPicPr>
          <p:cNvPr id="3" name="图片 2"/>
          <p:cNvPicPr>
            <a:picLocks noChangeAspect="1"/>
          </p:cNvPicPr>
          <p:nvPr/>
        </p:nvPicPr>
        <p:blipFill>
          <a:blip r:embed="rId5"/>
          <a:stretch>
            <a:fillRect/>
          </a:stretch>
        </p:blipFill>
        <p:spPr>
          <a:xfrm>
            <a:off x="2350135" y="2601595"/>
            <a:ext cx="6953250" cy="323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321500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Representation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0 → 1×1 Convolution</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1 → 3×3 Convolution</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2 → 3×3 Max Pooling</a:t>
            </a:r>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Fitness:</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sp>
        <p:nvSpPr>
          <p:cNvPr id="3" name="文本框 2"/>
          <p:cNvSpPr txBox="1"/>
          <p:nvPr/>
        </p:nvSpPr>
        <p:spPr>
          <a:xfrm>
            <a:off x="5883378" y="4456709"/>
            <a:ext cx="267970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Adjacency Matrix and operation vector</a:t>
            </a:r>
            <a:r>
              <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rPr>
              <a:t> </a:t>
            </a:r>
          </a:p>
        </p:txBody>
      </p:sp>
      <p:pic>
        <p:nvPicPr>
          <p:cNvPr id="4" name="图片 3"/>
          <p:cNvPicPr>
            <a:picLocks noChangeAspect="1"/>
          </p:cNvPicPr>
          <p:nvPr/>
        </p:nvPicPr>
        <p:blipFill>
          <a:blip r:embed="rId5"/>
          <a:stretch>
            <a:fillRect/>
          </a:stretch>
        </p:blipFill>
        <p:spPr>
          <a:xfrm>
            <a:off x="5753307" y="1278771"/>
            <a:ext cx="6092310" cy="3156932"/>
          </a:xfrm>
          <a:prstGeom prst="rect">
            <a:avLst/>
          </a:prstGeom>
        </p:spPr>
      </p:pic>
      <p:sp>
        <p:nvSpPr>
          <p:cNvPr id="7" name="文本框 6"/>
          <p:cNvSpPr txBox="1"/>
          <p:nvPr/>
        </p:nvSpPr>
        <p:spPr>
          <a:xfrm>
            <a:off x="9448977" y="4489074"/>
            <a:ext cx="178435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Cell DAG Visualization</a:t>
            </a:r>
          </a:p>
        </p:txBody>
      </p:sp>
      <p:pic>
        <p:nvPicPr>
          <p:cNvPr id="10" name="图片 9"/>
          <p:cNvPicPr>
            <a:picLocks noChangeAspect="1"/>
          </p:cNvPicPr>
          <p:nvPr/>
        </p:nvPicPr>
        <p:blipFill>
          <a:blip r:embed="rId6"/>
          <a:srcRect r="3009" b="4016"/>
          <a:stretch>
            <a:fillRect/>
          </a:stretch>
        </p:blipFill>
        <p:spPr>
          <a:xfrm>
            <a:off x="1034251" y="4543742"/>
            <a:ext cx="4652645" cy="6064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86DD-F22D-9223-91CA-F9BF54497E9C}"/>
            </a:ext>
          </a:extLst>
        </p:cNvPr>
        <p:cNvGrpSpPr/>
        <p:nvPr/>
      </p:nvGrpSpPr>
      <p:grpSpPr>
        <a:xfrm>
          <a:off x="0" y="0"/>
          <a:ext cx="0" cy="0"/>
          <a:chOff x="0" y="0"/>
          <a:chExt cx="0" cy="0"/>
        </a:xfrm>
      </p:grpSpPr>
      <p:pic>
        <p:nvPicPr>
          <p:cNvPr id="2" name="图片 1">
            <a:extLst>
              <a:ext uri="{FF2B5EF4-FFF2-40B4-BE49-F238E27FC236}">
                <a16:creationId xmlns:a16="http://schemas.microsoft.com/office/drawing/2014/main" id="{D01F3E26-884F-767B-BE4E-D710F1A9708B}"/>
              </a:ext>
            </a:extLst>
          </p:cNvPr>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a:extLst>
              <a:ext uri="{FF2B5EF4-FFF2-40B4-BE49-F238E27FC236}">
                <a16:creationId xmlns:a16="http://schemas.microsoft.com/office/drawing/2014/main" id="{8A31BAFE-946D-4F2A-E463-2ABE8C657C6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a:extLst>
              <a:ext uri="{FF2B5EF4-FFF2-40B4-BE49-F238E27FC236}">
                <a16:creationId xmlns:a16="http://schemas.microsoft.com/office/drawing/2014/main" id="{0EDE7A49-2BB4-9FAF-0836-534E54224A89}"/>
              </a:ext>
            </a:extLst>
          </p:cNvPr>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a:extLst>
              <a:ext uri="{FF2B5EF4-FFF2-40B4-BE49-F238E27FC236}">
                <a16:creationId xmlns:a16="http://schemas.microsoft.com/office/drawing/2014/main" id="{7CA81E6D-A208-6092-2030-D7C138B36896}"/>
              </a:ext>
            </a:extLst>
          </p:cNvPr>
          <p:cNvSpPr txBox="1"/>
          <p:nvPr/>
        </p:nvSpPr>
        <p:spPr>
          <a:xfrm>
            <a:off x="1034251" y="1620720"/>
            <a:ext cx="5181600" cy="321500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Representation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0 → 1×1 Convolution</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1 → 3×3 Convolution</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2 → 3×3 Max Pooling</a:t>
            </a:r>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Fitness:</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sp>
        <p:nvSpPr>
          <p:cNvPr id="3" name="文本框 2">
            <a:extLst>
              <a:ext uri="{FF2B5EF4-FFF2-40B4-BE49-F238E27FC236}">
                <a16:creationId xmlns:a16="http://schemas.microsoft.com/office/drawing/2014/main" id="{EAC4E97E-EEDF-0C6E-CFB2-3A5204E22FA6}"/>
              </a:ext>
            </a:extLst>
          </p:cNvPr>
          <p:cNvSpPr txBox="1"/>
          <p:nvPr/>
        </p:nvSpPr>
        <p:spPr>
          <a:xfrm>
            <a:off x="6847205" y="4251960"/>
            <a:ext cx="267970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Adjacency Matrix and operation vector</a:t>
            </a:r>
            <a:r>
              <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rPr>
              <a:t> </a:t>
            </a:r>
          </a:p>
        </p:txBody>
      </p:sp>
      <p:pic>
        <p:nvPicPr>
          <p:cNvPr id="4" name="图片 3">
            <a:extLst>
              <a:ext uri="{FF2B5EF4-FFF2-40B4-BE49-F238E27FC236}">
                <a16:creationId xmlns:a16="http://schemas.microsoft.com/office/drawing/2014/main" id="{7D24F1D4-57A5-3289-011B-336238B7E49E}"/>
              </a:ext>
            </a:extLst>
          </p:cNvPr>
          <p:cNvPicPr>
            <a:picLocks noChangeAspect="1"/>
          </p:cNvPicPr>
          <p:nvPr/>
        </p:nvPicPr>
        <p:blipFill>
          <a:blip r:embed="rId5"/>
          <a:stretch>
            <a:fillRect/>
          </a:stretch>
        </p:blipFill>
        <p:spPr>
          <a:xfrm>
            <a:off x="7166610" y="1894840"/>
            <a:ext cx="4347845" cy="2252980"/>
          </a:xfrm>
          <a:prstGeom prst="rect">
            <a:avLst/>
          </a:prstGeom>
        </p:spPr>
      </p:pic>
      <p:sp>
        <p:nvSpPr>
          <p:cNvPr id="7" name="文本框 6">
            <a:extLst>
              <a:ext uri="{FF2B5EF4-FFF2-40B4-BE49-F238E27FC236}">
                <a16:creationId xmlns:a16="http://schemas.microsoft.com/office/drawing/2014/main" id="{4FFFA20E-1B86-1994-21B0-892EA51DA491}"/>
              </a:ext>
            </a:extLst>
          </p:cNvPr>
          <p:cNvSpPr txBox="1"/>
          <p:nvPr/>
        </p:nvSpPr>
        <p:spPr>
          <a:xfrm>
            <a:off x="9448800" y="4251960"/>
            <a:ext cx="178435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Cell DAG Visualization</a:t>
            </a:r>
          </a:p>
        </p:txBody>
      </p:sp>
      <p:pic>
        <p:nvPicPr>
          <p:cNvPr id="10" name="图片 9">
            <a:extLst>
              <a:ext uri="{FF2B5EF4-FFF2-40B4-BE49-F238E27FC236}">
                <a16:creationId xmlns:a16="http://schemas.microsoft.com/office/drawing/2014/main" id="{31837767-2BE6-B42D-6D2E-B34FD53C332F}"/>
              </a:ext>
            </a:extLst>
          </p:cNvPr>
          <p:cNvPicPr>
            <a:picLocks noChangeAspect="1"/>
          </p:cNvPicPr>
          <p:nvPr/>
        </p:nvPicPr>
        <p:blipFill>
          <a:blip r:embed="rId6"/>
          <a:srcRect r="3009" b="4016"/>
          <a:stretch>
            <a:fillRect/>
          </a:stretch>
        </p:blipFill>
        <p:spPr>
          <a:xfrm>
            <a:off x="1667510" y="4361180"/>
            <a:ext cx="4652645" cy="606425"/>
          </a:xfrm>
          <a:prstGeom prst="rect">
            <a:avLst/>
          </a:prstGeom>
        </p:spPr>
      </p:pic>
      <p:pic>
        <p:nvPicPr>
          <p:cNvPr id="13" name="图片 12">
            <a:extLst>
              <a:ext uri="{FF2B5EF4-FFF2-40B4-BE49-F238E27FC236}">
                <a16:creationId xmlns:a16="http://schemas.microsoft.com/office/drawing/2014/main" id="{EB6AE310-B079-B61C-C92B-B6A6B0A2FB72}"/>
              </a:ext>
            </a:extLst>
          </p:cNvPr>
          <p:cNvPicPr>
            <a:picLocks noChangeAspect="1"/>
          </p:cNvPicPr>
          <p:nvPr/>
        </p:nvPicPr>
        <p:blipFill>
          <a:blip r:embed="rId7">
            <a:extLst>
              <a:ext uri="{28A0092B-C50C-407E-A947-70E740481C1C}">
                <a14:useLocalDpi xmlns:a14="http://schemas.microsoft.com/office/drawing/2010/main" val="0"/>
              </a:ext>
            </a:extLst>
          </a:blip>
          <a:srcRect t="8452" r="-837"/>
          <a:stretch>
            <a:fillRect/>
          </a:stretch>
        </p:blipFill>
        <p:spPr>
          <a:xfrm>
            <a:off x="0" y="-161137"/>
            <a:ext cx="12155365" cy="7019137"/>
          </a:xfrm>
          <a:prstGeom prst="rect">
            <a:avLst/>
          </a:prstGeom>
        </p:spPr>
      </p:pic>
    </p:spTree>
    <p:extLst>
      <p:ext uri="{BB962C8B-B14F-4D97-AF65-F5344CB8AC3E}">
        <p14:creationId xmlns:p14="http://schemas.microsoft.com/office/powerpoint/2010/main" val="2655967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515938" y="1246495"/>
            <a:ext cx="5181600" cy="4059894"/>
          </a:xfrm>
          <a:prstGeom prst="rect">
            <a:avLst/>
          </a:prstGeom>
          <a:noFill/>
        </p:spPr>
        <p:txBody>
          <a:bodyPr wrap="square" rtlCol="0">
            <a:spAutoFit/>
          </a:bodyPr>
          <a:lstStyle/>
          <a:p>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Crossover:</a:t>
            </a: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rPr>
              <a:t>Mutation</a:t>
            </a:r>
            <a:r>
              <a:rPr lang="zh-CN" altLang="en-US"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12" name="图片 11"/>
          <p:cNvPicPr>
            <a:picLocks noChangeAspect="1"/>
          </p:cNvPicPr>
          <p:nvPr/>
        </p:nvPicPr>
        <p:blipFill>
          <a:blip r:embed="rId5"/>
          <a:stretch>
            <a:fillRect/>
          </a:stretch>
        </p:blipFill>
        <p:spPr>
          <a:xfrm>
            <a:off x="985000" y="4822509"/>
            <a:ext cx="2286635" cy="525145"/>
          </a:xfrm>
          <a:prstGeom prst="rect">
            <a:avLst/>
          </a:prstGeom>
        </p:spPr>
      </p:pic>
      <p:pic>
        <p:nvPicPr>
          <p:cNvPr id="13" name="图片 12"/>
          <p:cNvPicPr>
            <a:picLocks noChangeAspect="1"/>
          </p:cNvPicPr>
          <p:nvPr/>
        </p:nvPicPr>
        <p:blipFill>
          <a:blip r:embed="rId6"/>
          <a:stretch>
            <a:fillRect/>
          </a:stretch>
        </p:blipFill>
        <p:spPr>
          <a:xfrm>
            <a:off x="416357" y="5443930"/>
            <a:ext cx="3423920" cy="532765"/>
          </a:xfrm>
          <a:prstGeom prst="rect">
            <a:avLst/>
          </a:prstGeom>
        </p:spPr>
      </p:pic>
      <p:pic>
        <p:nvPicPr>
          <p:cNvPr id="4" name="图片 3"/>
          <p:cNvPicPr>
            <a:picLocks noChangeAspect="1"/>
          </p:cNvPicPr>
          <p:nvPr/>
        </p:nvPicPr>
        <p:blipFill>
          <a:blip r:embed="rId7"/>
          <a:stretch>
            <a:fillRect/>
          </a:stretch>
        </p:blipFill>
        <p:spPr>
          <a:xfrm>
            <a:off x="515938" y="2121977"/>
            <a:ext cx="3568065" cy="1008380"/>
          </a:xfrm>
          <a:prstGeom prst="rect">
            <a:avLst/>
          </a:prstGeom>
        </p:spPr>
      </p:pic>
      <p:pic>
        <p:nvPicPr>
          <p:cNvPr id="7" name="图片 6"/>
          <p:cNvPicPr>
            <a:picLocks noChangeAspect="1"/>
          </p:cNvPicPr>
          <p:nvPr/>
        </p:nvPicPr>
        <p:blipFill>
          <a:blip r:embed="rId8"/>
          <a:stretch>
            <a:fillRect/>
          </a:stretch>
        </p:blipFill>
        <p:spPr>
          <a:xfrm>
            <a:off x="586437" y="3226633"/>
            <a:ext cx="3333115" cy="1114425"/>
          </a:xfrm>
          <a:prstGeom prst="rect">
            <a:avLst/>
          </a:prstGeom>
        </p:spPr>
      </p:pic>
      <p:pic>
        <p:nvPicPr>
          <p:cNvPr id="5" name="图片 4">
            <a:extLst>
              <a:ext uri="{FF2B5EF4-FFF2-40B4-BE49-F238E27FC236}">
                <a16:creationId xmlns:a16="http://schemas.microsoft.com/office/drawing/2014/main" id="{5D2AD119-4ECC-C0BA-591C-5D4BD282CC94}"/>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852162" y="1085311"/>
            <a:ext cx="8339838" cy="539706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257175"/>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12" name="图片 11" descr="output3"/>
          <p:cNvPicPr>
            <a:picLocks noChangeAspect="1"/>
          </p:cNvPicPr>
          <p:nvPr/>
        </p:nvPicPr>
        <p:blipFill>
          <a:blip r:embed="rId5"/>
          <a:stretch>
            <a:fillRect/>
          </a:stretch>
        </p:blipFill>
        <p:spPr>
          <a:xfrm>
            <a:off x="515938" y="1721247"/>
            <a:ext cx="6124705" cy="3753199"/>
          </a:xfrm>
          <a:prstGeom prst="rect">
            <a:avLst/>
          </a:prstGeom>
        </p:spPr>
      </p:pic>
      <p:sp>
        <p:nvSpPr>
          <p:cNvPr id="14" name="文本框 13"/>
          <p:cNvSpPr txBox="1"/>
          <p:nvPr/>
        </p:nvSpPr>
        <p:spPr>
          <a:xfrm>
            <a:off x="1311275" y="1017270"/>
            <a:ext cx="2219325" cy="391160"/>
          </a:xfrm>
          <a:prstGeom prst="rect">
            <a:avLst/>
          </a:prstGeom>
        </p:spPr>
        <p:txBody>
          <a:bodyPr>
            <a:noAutofit/>
          </a:bodyPr>
          <a:lstStyle/>
          <a:p>
            <a:pPr marL="0" indent="0">
              <a:spcAft>
                <a:spcPct val="60000"/>
              </a:spcAft>
            </a:pPr>
            <a:r>
              <a:rPr lang="en-US" altLang="zh-CN" sz="2400" b="0" i="0">
                <a:solidFill>
                  <a:srgbClr val="191B1F"/>
                </a:solidFill>
                <a:latin typeface="Times New Roman" panose="02020603050405020304" charset="0"/>
                <a:ea typeface="微软雅黑" panose="020B0503020204020204" pitchFamily="34" charset="-122"/>
                <a:cs typeface="Times New Roman" panose="02020603050405020304" charset="0"/>
              </a:rPr>
              <a:t>AmoebaNet</a:t>
            </a:r>
          </a:p>
        </p:txBody>
      </p:sp>
      <p:pic>
        <p:nvPicPr>
          <p:cNvPr id="15" name="图片 14" descr="output"/>
          <p:cNvPicPr>
            <a:picLocks noChangeAspect="1"/>
          </p:cNvPicPr>
          <p:nvPr/>
        </p:nvPicPr>
        <p:blipFill>
          <a:blip r:embed="rId6"/>
          <a:stretch>
            <a:fillRect/>
          </a:stretch>
        </p:blipFill>
        <p:spPr>
          <a:xfrm>
            <a:off x="7261527" y="1114259"/>
            <a:ext cx="3738245" cy="53670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364715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Current </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R</a:t>
            </a: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3" name="文本框 2"/>
          <p:cNvSpPr txBox="1"/>
          <p:nvPr/>
        </p:nvSpPr>
        <p:spPr>
          <a:xfrm>
            <a:off x="515938" y="1265218"/>
            <a:ext cx="8560435" cy="4219575"/>
          </a:xfrm>
          <a:prstGeom prst="rect">
            <a:avLst/>
          </a:prstGeom>
          <a:noFill/>
        </p:spPr>
        <p:txBody>
          <a:bodyPr wrap="square" rtlCol="0">
            <a:no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1. Successful loading of the NASBench-101 dataset and implementation of the architecture query interface</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2. Construction of the NAS search space, including both the topological representation (adjacency matrices) and operation definition (node-level operator choices).</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3. Development of three search algorithms:</a:t>
            </a: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Random Search</a:t>
            </a: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Search with crossover</a:t>
            </a: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Search without crossover</a:t>
            </a: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4. Visualization of performance and algorithm comparison, illustrating how different search strategies evolve over time and how their efficiency differs under the same computational budget.</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F099B-70AF-3D3B-71BC-40593B1E2A0B}"/>
            </a:ext>
          </a:extLst>
        </p:cNvPr>
        <p:cNvGrpSpPr/>
        <p:nvPr/>
      </p:nvGrpSpPr>
      <p:grpSpPr>
        <a:xfrm>
          <a:off x="0" y="0"/>
          <a:ext cx="0" cy="0"/>
          <a:chOff x="0" y="0"/>
          <a:chExt cx="0" cy="0"/>
        </a:xfrm>
      </p:grpSpPr>
      <p:pic>
        <p:nvPicPr>
          <p:cNvPr id="2" name="图片 1">
            <a:extLst>
              <a:ext uri="{FF2B5EF4-FFF2-40B4-BE49-F238E27FC236}">
                <a16:creationId xmlns:a16="http://schemas.microsoft.com/office/drawing/2014/main" id="{0105918F-17D7-48A4-B4C6-4DC8323A9F8C}"/>
              </a:ext>
            </a:extLst>
          </p:cNvPr>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a:extLst>
              <a:ext uri="{FF2B5EF4-FFF2-40B4-BE49-F238E27FC236}">
                <a16:creationId xmlns:a16="http://schemas.microsoft.com/office/drawing/2014/main" id="{DE696E6D-9B6E-F141-402F-41FFA67C20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a:extLst>
              <a:ext uri="{FF2B5EF4-FFF2-40B4-BE49-F238E27FC236}">
                <a16:creationId xmlns:a16="http://schemas.microsoft.com/office/drawing/2014/main" id="{05122F07-DCD4-88C4-B96B-C3D79D59F588}"/>
              </a:ext>
            </a:extLst>
          </p:cNvPr>
          <p:cNvSpPr txBox="1"/>
          <p:nvPr/>
        </p:nvSpPr>
        <p:spPr>
          <a:xfrm>
            <a:off x="515938" y="560070"/>
            <a:ext cx="364715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Current </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R</a:t>
            </a: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6" name="图片 5">
            <a:extLst>
              <a:ext uri="{FF2B5EF4-FFF2-40B4-BE49-F238E27FC236}">
                <a16:creationId xmlns:a16="http://schemas.microsoft.com/office/drawing/2014/main" id="{385E469D-6C01-AD48-D89B-CC46179770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1" y="1375072"/>
            <a:ext cx="5500349" cy="4107856"/>
          </a:xfrm>
          <a:prstGeom prst="rect">
            <a:avLst/>
          </a:prstGeom>
        </p:spPr>
      </p:pic>
      <p:pic>
        <p:nvPicPr>
          <p:cNvPr id="5" name="图片 4">
            <a:extLst>
              <a:ext uri="{FF2B5EF4-FFF2-40B4-BE49-F238E27FC236}">
                <a16:creationId xmlns:a16="http://schemas.microsoft.com/office/drawing/2014/main" id="{1121A9E3-CA66-08F1-222F-3B82939319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0" y="1322400"/>
            <a:ext cx="5580062" cy="4288730"/>
          </a:xfrm>
          <a:prstGeom prst="rect">
            <a:avLst/>
          </a:prstGeom>
        </p:spPr>
      </p:pic>
    </p:spTree>
    <p:extLst>
      <p:ext uri="{BB962C8B-B14F-4D97-AF65-F5344CB8AC3E}">
        <p14:creationId xmlns:p14="http://schemas.microsoft.com/office/powerpoint/2010/main" val="927466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6255" y="560070"/>
            <a:ext cx="4444365" cy="6451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Future Work</a:t>
            </a:r>
          </a:p>
        </p:txBody>
      </p:sp>
      <p:sp>
        <p:nvSpPr>
          <p:cNvPr id="6" name="文本框 5"/>
          <p:cNvSpPr txBox="1"/>
          <p:nvPr/>
        </p:nvSpPr>
        <p:spPr>
          <a:xfrm>
            <a:off x="1034415" y="1620520"/>
            <a:ext cx="8260715" cy="4521559"/>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Explore multi-objective optimization</a:t>
            </a:r>
          </a:p>
          <a:p>
            <a:pPr marL="457200" lvl="0" indent="-457200">
              <a:lnSpc>
                <a:spcPct val="150000"/>
              </a:lnSpc>
              <a:spcBef>
                <a:spcPts val="1200"/>
              </a:spcBef>
              <a:buFont typeface="Arial" panose="020B0604020202020204" pitchFamily="34" charset="0"/>
              <a:buChar char="•"/>
              <a:defRP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PSO</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indent="0">
              <a:buFont typeface="Arial" panose="020B0604020202020204" pitchFamily="34" charset="0"/>
              <a:buNone/>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 </a:t>
            </a: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5"/>
          <a:stretch>
            <a:fillRect/>
          </a:stretch>
        </p:blipFill>
        <p:spPr>
          <a:xfrm>
            <a:off x="942111" y="2303622"/>
            <a:ext cx="6214745" cy="1907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2"/>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sp>
        <p:nvSpPr>
          <p:cNvPr id="9" name="文本框 8"/>
          <p:cNvSpPr txBox="1"/>
          <p:nvPr/>
        </p:nvSpPr>
        <p:spPr>
          <a:xfrm>
            <a:off x="515938" y="560070"/>
            <a:ext cx="420497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Time Management</a:t>
            </a:r>
          </a:p>
        </p:txBody>
      </p:sp>
      <p:sp>
        <p:nvSpPr>
          <p:cNvPr id="6" name="文本框 5"/>
          <p:cNvSpPr txBox="1"/>
          <p:nvPr/>
        </p:nvSpPr>
        <p:spPr>
          <a:xfrm>
            <a:off x="1034251" y="1620720"/>
            <a:ext cx="5181600" cy="2120902"/>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Python </a:t>
            </a: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NAS-Bench-101: </a:t>
            </a: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3" name="图片 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0" y="1837426"/>
            <a:ext cx="12185374" cy="25880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536" y="4697875"/>
            <a:ext cx="12214536" cy="2171700"/>
          </a:xfrm>
          <a:prstGeom prst="rect">
            <a:avLst/>
          </a:prstGeom>
        </p:spPr>
      </p:pic>
      <p:sp>
        <p:nvSpPr>
          <p:cNvPr id="6" name="文本框 5"/>
          <p:cNvSpPr txBox="1"/>
          <p:nvPr/>
        </p:nvSpPr>
        <p:spPr>
          <a:xfrm>
            <a:off x="6450330" y="1859280"/>
            <a:ext cx="4356735" cy="170307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Thank You</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2F2E41"/>
                </a:solidFill>
                <a:effectLst/>
                <a:uLnTx/>
                <a:uFillTx/>
                <a:latin typeface="Times New Roman" panose="02020603050405020304" charset="0"/>
                <a:ea typeface="思源黑体 CN Bold" panose="020B0800000000000000" pitchFamily="34" charset="-122"/>
                <a:cs typeface="Times New Roman" panose="02020603050405020304" charset="0"/>
              </a:rPr>
              <a:t>for your listening</a:t>
            </a:r>
          </a:p>
        </p:txBody>
      </p:sp>
      <p:sp>
        <p:nvSpPr>
          <p:cNvPr id="2" name="矩形 1"/>
          <p:cNvSpPr/>
          <p:nvPr/>
        </p:nvSpPr>
        <p:spPr>
          <a:xfrm>
            <a:off x="6589105" y="3708221"/>
            <a:ext cx="1089660" cy="68580"/>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9" name="图形 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18952" y="469432"/>
            <a:ext cx="3057110" cy="561730"/>
          </a:xfrm>
          <a:prstGeom prst="rect">
            <a:avLst/>
          </a:prstGeom>
        </p:spPr>
      </p:pic>
      <p:pic>
        <p:nvPicPr>
          <p:cNvPr id="5" name="图形 4"/>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a:fillRect/>
          </a:stretch>
        </p:blipFill>
        <p:spPr>
          <a:xfrm>
            <a:off x="185808" y="925975"/>
            <a:ext cx="6299125" cy="5006050"/>
          </a:xfrm>
          <a:prstGeom prst="rect">
            <a:avLst/>
          </a:prstGeom>
        </p:spPr>
      </p:pic>
    </p:spTree>
  </p:cSld>
  <p:clrMapOvr>
    <a:masterClrMapping/>
  </p:clrMapOvr>
</p:sld>
</file>

<file path=ppt/theme/theme1.xml><?xml version="1.0" encoding="utf-8"?>
<a:theme xmlns:a="http://schemas.openxmlformats.org/drawingml/2006/main" name="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186</TotalTime>
  <Words>296</Words>
  <Application>Microsoft Office PowerPoint</Application>
  <PresentationFormat>宽屏</PresentationFormat>
  <Paragraphs>67</Paragraphs>
  <Slides>12</Slides>
  <Notes>0</Notes>
  <HiddenSlides>0</HiddenSlides>
  <MMClips>0</MMClips>
  <ScaleCrop>false</ScaleCrop>
  <HeadingPairs>
    <vt:vector size="6" baseType="variant">
      <vt:variant>
        <vt:lpstr>已用的字体</vt:lpstr>
      </vt:variant>
      <vt:variant>
        <vt:i4>6</vt:i4>
      </vt:variant>
      <vt:variant>
        <vt:lpstr>主题</vt:lpstr>
      </vt:variant>
      <vt:variant>
        <vt:i4>3</vt:i4>
      </vt:variant>
      <vt:variant>
        <vt:lpstr>幻灯片标题</vt:lpstr>
      </vt:variant>
      <vt:variant>
        <vt:i4>12</vt:i4>
      </vt:variant>
    </vt:vector>
  </HeadingPairs>
  <TitlesOfParts>
    <vt:vector size="21" baseType="lpstr">
      <vt:lpstr>等线</vt:lpstr>
      <vt:lpstr>思源黑体 CN Regular</vt:lpstr>
      <vt:lpstr>微软雅黑</vt:lpstr>
      <vt:lpstr>Arial</vt:lpstr>
      <vt:lpstr>Calibri</vt:lpstr>
      <vt:lpstr>Times New Roman</vt:lpstr>
      <vt:lpstr>已停用母版样式</vt:lpstr>
      <vt:lpstr>Office Theme</vt:lpstr>
      <vt:lpstr>1_已停用母版样式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Yaojia Zhang</dc:creator>
  <cp:lastModifiedBy>ZW C</cp:lastModifiedBy>
  <cp:revision>127</cp:revision>
  <dcterms:created xsi:type="dcterms:W3CDTF">2019-12-12T09:10:00Z</dcterms:created>
  <dcterms:modified xsi:type="dcterms:W3CDTF">2025-12-08T01:33:37Z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1BC08329D6014F758381CECAC33CA6E9_13</vt:lpwstr>
  </property>
  <property fmtid="{D5CDD505-2E9C-101B-9397-08002B2CF9AE}" pid="3" name="KSOProductBuildVer">
    <vt:lpwstr>2052-12.1.0.24034</vt:lpwstr>
  </property>
</Properties>
</file>